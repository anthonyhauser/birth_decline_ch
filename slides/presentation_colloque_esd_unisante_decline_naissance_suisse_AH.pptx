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</p:sldMasterIdLst>
  <p:notesMasterIdLst>
    <p:notesMasterId r:id="rId8"/>
  </p:notesMasterIdLst>
  <p:handoutMasterIdLst>
    <p:handoutMasterId r:id="rId9"/>
  </p:handoutMasterIdLst>
  <p:sldIdLst>
    <p:sldId id="256" r:id="rId3"/>
    <p:sldId id="258" r:id="rId4"/>
    <p:sldId id="259" r:id="rId5"/>
    <p:sldId id="260" r:id="rId6"/>
    <p:sldId id="257" r:id="rId7"/>
  </p:sldIdLst>
  <p:sldSz cx="9144000" cy="5143500" type="screen16x9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adi Selsabil" initials="M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84C"/>
    <a:srgbClr val="B6122E"/>
    <a:srgbClr val="B61239"/>
    <a:srgbClr val="B61331"/>
    <a:srgbClr val="B7032E"/>
    <a:srgbClr val="252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1" autoAdjust="0"/>
    <p:restoredTop sz="94694"/>
  </p:normalViewPr>
  <p:slideViewPr>
    <p:cSldViewPr snapToGrid="0">
      <p:cViewPr varScale="1">
        <p:scale>
          <a:sx n="147" d="100"/>
          <a:sy n="147" d="100"/>
        </p:scale>
        <p:origin x="1027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7D585-EC98-5F43-A51C-5F2A8570C614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DB8F-65FF-AC44-94E6-BF5060E6CD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332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FB32B-52D8-4306-A361-353EDAE3151D}" type="datetimeFigureOut">
              <a:rPr lang="fr-CH" smtClean="0"/>
              <a:t>07.09.2026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64DFB-F1B3-48AE-BC60-C194A991170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98585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64DFB-F1B3-48AE-BC60-C194A9911702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17695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64DFB-F1B3-48AE-BC60-C194A9911702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72612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4531-52BA-2B43-B83B-144C63B8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698450-2D4C-6966-6C66-3A87599E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739D62-65DA-CDCE-275F-9B89E7C8D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2F328E-EC0C-F17F-98C9-2C685E265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64DFB-F1B3-48AE-BC60-C194A9911702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6479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61F2-68A2-C84A-B256-48711B12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777ABB-7245-BE25-393C-30F465B8B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853E5F-113D-1B64-D864-C24157F73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1868A3-8F8C-53BE-2690-B0AE6F4B4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64DFB-F1B3-48AE-BC60-C194A9911702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08425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64DFB-F1B3-48AE-BC60-C194A9911702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1851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35474" y="1447800"/>
            <a:ext cx="8334909" cy="1226582"/>
          </a:xfrm>
        </p:spPr>
        <p:txBody>
          <a:bodyPr anchor="t">
            <a:normAutofit/>
          </a:bodyPr>
          <a:lstStyle>
            <a:lvl1pPr algn="ctr">
              <a:defRPr sz="3300" b="1" i="0">
                <a:solidFill>
                  <a:srgbClr val="B6122E"/>
                </a:solidFill>
                <a:latin typeface="Arial Unicode MS"/>
                <a:cs typeface="Arial Unicode MS"/>
              </a:defRPr>
            </a:lvl1pPr>
          </a:lstStyle>
          <a:p>
            <a:r>
              <a:rPr lang="fr-CH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35768" y="2848425"/>
            <a:ext cx="8334614" cy="682175"/>
          </a:xfrm>
          <a:noFill/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i="1" baseline="0">
                <a:solidFill>
                  <a:srgbClr val="43484C"/>
                </a:solidFill>
                <a:latin typeface="Arial Unicode MS"/>
                <a:cs typeface="Arial Unicode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fr-CH" dirty="0"/>
              <a:t>Cliquez ici pour insérer le nom et/ou la date</a:t>
            </a:r>
            <a:endParaRPr lang="fr-CH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fr-CH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2438821" cy="12976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920834F-632E-3D41-BB46-00EF1D31D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5473" y="289055"/>
            <a:ext cx="2159044" cy="4210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33468"/>
            <a:ext cx="8229600" cy="619080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r>
              <a:rPr lang="fr-FR" dirty="0"/>
              <a:t>Cliquez pour modifier le titre</a:t>
            </a:r>
            <a:endParaRPr lang="fr-CH" dirty="0"/>
          </a:p>
        </p:txBody>
      </p:sp>
      <p:sp>
        <p:nvSpPr>
          <p:cNvPr id="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789553"/>
            <a:ext cx="8229600" cy="3686525"/>
          </a:xfrm>
        </p:spPr>
        <p:txBody>
          <a:bodyPr>
            <a:noAutofit/>
          </a:bodyPr>
          <a:lstStyle>
            <a:lvl1pPr marL="268288" indent="-268288">
              <a:defRPr sz="1200">
                <a:latin typeface="Arial" pitchFamily="34" charset="0"/>
                <a:cs typeface="Arial" pitchFamily="34" charset="0"/>
              </a:defRPr>
            </a:lvl1pPr>
            <a:lvl2pPr marL="539750" indent="-271463">
              <a:defRPr sz="1200"/>
            </a:lvl2pPr>
            <a:lvl3pPr marL="808038" indent="-268288">
              <a:defRPr sz="1200"/>
            </a:lvl3pPr>
            <a:lvl4pPr marL="1074738" indent="-285750">
              <a:defRPr sz="1200"/>
            </a:lvl4pPr>
            <a:lvl5pPr marL="1343025" indent="-260350">
              <a:defRPr sz="1200"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CD1ECCC-D2A6-C247-B0B8-8ED131F3D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Autofit/>
          </a:bodyPr>
          <a:lstStyle>
            <a:lvl1pPr algn="l">
              <a:defRPr sz="3600" b="1" cap="none" baseline="0"/>
            </a:lvl1pPr>
          </a:lstStyle>
          <a:p>
            <a:r>
              <a:rPr lang="fr-FR"/>
              <a:t>Modifiez le style du titre</a:t>
            </a:r>
            <a:endParaRPr lang="fr-CH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180035"/>
            <a:ext cx="7772400" cy="1125140"/>
          </a:xfrm>
        </p:spPr>
        <p:txBody>
          <a:bodyPr anchor="t">
            <a:noAutofit/>
          </a:bodyPr>
          <a:lstStyle>
            <a:lvl1pPr marL="0" indent="0">
              <a:buNone/>
              <a:defRPr sz="2000">
                <a:solidFill>
                  <a:srgbClr val="43484C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BA9045-A8B1-4D4B-A9DB-6FB96A37C1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sp>
        <p:nvSpPr>
          <p:cNvPr id="9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789552"/>
            <a:ext cx="4038600" cy="3686525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10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789553"/>
            <a:ext cx="4038600" cy="3686525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33468"/>
            <a:ext cx="8229600" cy="619080"/>
          </a:xfrm>
        </p:spPr>
        <p:txBody>
          <a:bodyPr>
            <a:noAutofit/>
          </a:bodyPr>
          <a:lstStyle/>
          <a:p>
            <a:r>
              <a:rPr lang="fr-FR" dirty="0"/>
              <a:t>Cliquez pour modifier le titre</a:t>
            </a:r>
            <a:endParaRPr lang="fr-CH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2D31DA5-DA17-0348-940D-9FBD19C98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sp>
        <p:nvSpPr>
          <p:cNvPr id="8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789552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275607"/>
            <a:ext cx="4040188" cy="32051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789552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275607"/>
            <a:ext cx="4041775" cy="32051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13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33468"/>
            <a:ext cx="8229600" cy="619080"/>
          </a:xfrm>
        </p:spPr>
        <p:txBody>
          <a:bodyPr>
            <a:noAutofit/>
          </a:bodyPr>
          <a:lstStyle/>
          <a:p>
            <a:r>
              <a:rPr lang="fr-FR" dirty="0"/>
              <a:t>Cliquez pour modifier le titre</a:t>
            </a:r>
            <a:endParaRPr lang="fr-CH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0FADAEC-5616-214F-A2B6-3A0980F67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33468"/>
            <a:ext cx="8229600" cy="619080"/>
          </a:xfrm>
        </p:spPr>
        <p:txBody>
          <a:bodyPr>
            <a:noAutofit/>
          </a:bodyPr>
          <a:lstStyle/>
          <a:p>
            <a:r>
              <a:rPr lang="fr-FR" dirty="0"/>
              <a:t>Cliquez pour modifier le titre</a:t>
            </a:r>
            <a:endParaRPr lang="fr-CH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F47A804-8198-2D46-92E6-B37CE4C74E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0D0D78-3147-7B4D-8BBA-98CCE71B00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375031"/>
            <a:ext cx="3008313" cy="701294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375032"/>
            <a:ext cx="5111750" cy="4096354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39506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318F8CE-D0D5-A54A-8FB5-F6F2F583B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40834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C9E44BA-8C59-2C43-8EE9-CC487D7F21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sp>
        <p:nvSpPr>
          <p:cNvPr id="5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789553"/>
            <a:ext cx="8229600" cy="3686525"/>
          </a:xfrm>
        </p:spPr>
        <p:txBody>
          <a:bodyPr vert="eaVert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33468"/>
            <a:ext cx="8229600" cy="619080"/>
          </a:xfrm>
        </p:spPr>
        <p:txBody>
          <a:bodyPr>
            <a:noAutofit/>
          </a:bodyPr>
          <a:lstStyle/>
          <a:p>
            <a:r>
              <a:rPr lang="fr-FR" dirty="0"/>
              <a:t>Cliquez pour modifier le titre</a:t>
            </a:r>
            <a:endParaRPr lang="fr-CH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DDC078-9D3A-9546-A1B9-0D207FC5F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‹#›</a:t>
            </a:fld>
            <a:endParaRPr lang="fr-CH"/>
          </a:p>
        </p:txBody>
      </p:sp>
      <p:sp>
        <p:nvSpPr>
          <p:cNvPr id="5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7802016" y="375032"/>
            <a:ext cx="1090464" cy="4219591"/>
          </a:xfrm>
        </p:spPr>
        <p:txBody>
          <a:bodyPr vert="eaVert">
            <a:noAutofit/>
          </a:bodyPr>
          <a:lstStyle>
            <a:lvl1pPr>
              <a:defRPr sz="3600"/>
            </a:lvl1pPr>
          </a:lstStyle>
          <a:p>
            <a:r>
              <a:rPr lang="fr-FR" dirty="0"/>
              <a:t>Cliquez pour modifier le titre</a:t>
            </a:r>
            <a:endParaRPr lang="fr-CH" dirty="0"/>
          </a:p>
        </p:txBody>
      </p:sp>
      <p:sp>
        <p:nvSpPr>
          <p:cNvPr id="7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375032"/>
            <a:ext cx="7139136" cy="4219591"/>
          </a:xfrm>
        </p:spPr>
        <p:txBody>
          <a:bodyPr vert="eaVert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982A641-865F-0045-AB39-DDDE31297D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35474" y="2082766"/>
            <a:ext cx="8334909" cy="1226582"/>
          </a:xfrm>
        </p:spPr>
        <p:txBody>
          <a:bodyPr anchor="t">
            <a:normAutofit/>
          </a:bodyPr>
          <a:lstStyle>
            <a:lvl1pPr algn="ctr">
              <a:defRPr sz="3300" b="1" i="0">
                <a:solidFill>
                  <a:srgbClr val="B6122E"/>
                </a:solidFill>
                <a:latin typeface="Arial Unicode MS"/>
                <a:cs typeface="Arial Unicode M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2438821" cy="12976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FE1318-54C6-4F42-8F0F-48E0AC9E54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5473" y="289055"/>
            <a:ext cx="2159044" cy="42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64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62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33249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pour modifier le style du titre</a:t>
            </a:r>
            <a:endParaRPr lang="fr-CH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26785"/>
            <a:ext cx="8229600" cy="3249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78770" y="4678631"/>
            <a:ext cx="500066" cy="214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B6C6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38066B1-5D95-A84B-B76E-9182D90F246B}" type="slidenum">
              <a:rPr lang="fr-CH" smtClean="0"/>
              <a:pPr/>
              <a:t>‹#›</a:t>
            </a:fld>
            <a:endParaRPr lang="fr-CH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364E302-1E65-0E40-B473-412309EE410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457200" y="4677683"/>
            <a:ext cx="1054758" cy="205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B61239"/>
          </a:solidFill>
          <a:latin typeface="Arial Unicode MS"/>
          <a:ea typeface="+mj-ea"/>
          <a:cs typeface="Arial Unicode MS"/>
        </a:defRPr>
      </a:lvl1pPr>
    </p:titleStyle>
    <p:bodyStyle>
      <a:lvl1pPr marL="457200" indent="-457200" algn="l" defTabSz="914400" rtl="0" eaLnBrk="1" latinLnBrk="0" hangingPunct="1">
        <a:spcBef>
          <a:spcPct val="20000"/>
        </a:spcBef>
        <a:buClr>
          <a:srgbClr val="B61239"/>
        </a:buClr>
        <a:buFont typeface="Arial"/>
        <a:buChar char="•"/>
        <a:defRPr sz="2800" kern="1200">
          <a:solidFill>
            <a:srgbClr val="43484C"/>
          </a:solidFill>
          <a:latin typeface="Arial" pitchFamily="34" charset="0"/>
          <a:ea typeface="+mn-ea"/>
          <a:cs typeface="Arial" pitchFamily="34" charset="0"/>
        </a:defRPr>
      </a:lvl1pPr>
      <a:lvl2pPr marL="800100" indent="-342900" algn="l" defTabSz="914400" rtl="0" eaLnBrk="1" latinLnBrk="0" hangingPunct="1">
        <a:spcBef>
          <a:spcPct val="20000"/>
        </a:spcBef>
        <a:buClr>
          <a:srgbClr val="B61239"/>
        </a:buClr>
        <a:buFont typeface="Arial"/>
        <a:buChar char="•"/>
        <a:defRPr sz="2400" kern="1200">
          <a:solidFill>
            <a:srgbClr val="43484C"/>
          </a:solidFill>
          <a:latin typeface="Arial" pitchFamily="34" charset="0"/>
          <a:ea typeface="+mn-ea"/>
          <a:cs typeface="Arial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Clr>
          <a:srgbClr val="B61239"/>
        </a:buClr>
        <a:buFont typeface="Arial"/>
        <a:buChar char="•"/>
        <a:defRPr sz="2000" kern="1200">
          <a:solidFill>
            <a:srgbClr val="43484C"/>
          </a:solidFill>
          <a:latin typeface="Arial" pitchFamily="34" charset="0"/>
          <a:ea typeface="+mn-ea"/>
          <a:cs typeface="Arial" pitchFamily="34" charset="0"/>
        </a:defRPr>
      </a:lvl3pPr>
      <a:lvl4pPr marL="1657350" indent="-285750" algn="l" defTabSz="914400" rtl="0" eaLnBrk="1" latinLnBrk="0" hangingPunct="1">
        <a:spcBef>
          <a:spcPct val="20000"/>
        </a:spcBef>
        <a:buClr>
          <a:srgbClr val="B61239"/>
        </a:buClr>
        <a:buFont typeface="Arial"/>
        <a:buChar char="•"/>
        <a:defRPr sz="1600" kern="1200">
          <a:solidFill>
            <a:srgbClr val="43484C"/>
          </a:solidFill>
          <a:latin typeface="Arial" pitchFamily="34" charset="0"/>
          <a:ea typeface="+mn-ea"/>
          <a:cs typeface="Arial" pitchFamily="34" charset="0"/>
        </a:defRPr>
      </a:lvl4pPr>
      <a:lvl5pPr marL="2000250" indent="-171450" algn="l" defTabSz="914400" rtl="0" eaLnBrk="1" latinLnBrk="0" hangingPunct="1">
        <a:spcBef>
          <a:spcPct val="20000"/>
        </a:spcBef>
        <a:buClr>
          <a:srgbClr val="B61239"/>
        </a:buClr>
        <a:buFont typeface="Arial"/>
        <a:buChar char="•"/>
        <a:defRPr sz="1200" kern="1200">
          <a:solidFill>
            <a:srgbClr val="43484C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94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H" sz="2800" i="1" dirty="0"/>
              <a:t>Caractérisation de la baisse des naissances en Suisse : analyse statistique de 2000 à 2025</a:t>
            </a:r>
            <a:endParaRPr lang="fr-FR" sz="28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Anthony Hauser, Julien Riou, Kaspar Staub</a:t>
            </a:r>
          </a:p>
          <a:p>
            <a:r>
              <a:rPr lang="fr-FR" dirty="0"/>
              <a:t>10.07.2026</a:t>
            </a:r>
          </a:p>
        </p:txBody>
      </p:sp>
    </p:spTree>
    <p:extLst>
      <p:ext uri="{BB962C8B-B14F-4D97-AF65-F5344CB8AC3E}">
        <p14:creationId xmlns:p14="http://schemas.microsoft.com/office/powerpoint/2010/main" val="21154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2</a:t>
            </a:fld>
            <a:endParaRPr lang="fr-CH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z="2000" b="1" dirty="0"/>
              <a:t>La baisse de la fécondité : un phénomène global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789553"/>
            <a:ext cx="3346101" cy="3686525"/>
          </a:xfrm>
        </p:spPr>
        <p:txBody>
          <a:bodyPr/>
          <a:lstStyle/>
          <a:p>
            <a:pPr lvl="0"/>
            <a:r>
              <a:rPr lang="fr-CH" sz="1200" b="1" dirty="0"/>
              <a:t>Déclin mondial de la fécondité</a:t>
            </a:r>
            <a:r>
              <a:rPr lang="fr-CH" sz="1200" dirty="0"/>
              <a:t> </a:t>
            </a:r>
          </a:p>
          <a:p>
            <a:pPr lvl="0"/>
            <a:r>
              <a:rPr lang="fr-CH" sz="1200" dirty="0"/>
              <a:t>Particulièrement marqué en </a:t>
            </a:r>
            <a:r>
              <a:rPr lang="fr-CH" sz="1200" b="1" dirty="0"/>
              <a:t>Europe et dans les pays à hauts revenus</a:t>
            </a:r>
            <a:r>
              <a:rPr lang="fr-CH" sz="1200" dirty="0"/>
              <a:t> </a:t>
            </a:r>
          </a:p>
          <a:p>
            <a:pPr lvl="0"/>
            <a:r>
              <a:rPr lang="fr-CH" sz="1200" b="1" dirty="0"/>
              <a:t>Report des naissances</a:t>
            </a:r>
            <a:r>
              <a:rPr lang="fr-CH" sz="1200" dirty="0"/>
              <a:t> : âge à la maternité ↑ </a:t>
            </a:r>
          </a:p>
          <a:p>
            <a:pPr lvl="0"/>
            <a:r>
              <a:rPr lang="fr-CH" sz="1200" dirty="0"/>
              <a:t>Mais le report n'explique </a:t>
            </a:r>
            <a:r>
              <a:rPr lang="fr-CH" sz="1200" b="1" dirty="0"/>
              <a:t>qu'une partie</a:t>
            </a:r>
            <a:r>
              <a:rPr lang="fr-CH" sz="1200" dirty="0"/>
              <a:t> du déclin </a:t>
            </a:r>
          </a:p>
          <a:p>
            <a:pPr lvl="0"/>
            <a:r>
              <a:rPr lang="fr-CH" sz="1200" dirty="0"/>
              <a:t>La </a:t>
            </a:r>
            <a:r>
              <a:rPr lang="fr-CH" sz="1200" b="1" dirty="0"/>
              <a:t>fécondité réalisée</a:t>
            </a:r>
            <a:r>
              <a:rPr lang="fr-CH" sz="1200" dirty="0"/>
              <a:t> diminue également</a:t>
            </a:r>
          </a:p>
          <a:p>
            <a:endParaRPr lang="fr-CH" sz="1600" dirty="0"/>
          </a:p>
        </p:txBody>
      </p:sp>
    </p:spTree>
    <p:extLst>
      <p:ext uri="{BB962C8B-B14F-4D97-AF65-F5344CB8AC3E}">
        <p14:creationId xmlns:p14="http://schemas.microsoft.com/office/powerpoint/2010/main" val="345231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5592-4F50-E7F3-DCB2-0D0A4247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7834C2-BDBE-C3B3-714B-260455F2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3</a:t>
            </a:fld>
            <a:endParaRPr lang="fr-CH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FEFD084-3244-709E-BDFF-295471C5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z="2000" b="1" dirty="0"/>
              <a:t>Un phénomène ancien, mais une dynamique récente particulière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575F82-39DB-AE69-0323-F7E284CB9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9553"/>
            <a:ext cx="3488076" cy="3686525"/>
          </a:xfrm>
        </p:spPr>
        <p:txBody>
          <a:bodyPr/>
          <a:lstStyle/>
          <a:p>
            <a:pPr lvl="0"/>
            <a:r>
              <a:rPr lang="fr-CH" sz="1200" dirty="0"/>
              <a:t>La baisse actuelle s'inscrit dans une </a:t>
            </a:r>
            <a:r>
              <a:rPr lang="fr-CH" sz="1200" b="1" dirty="0"/>
              <a:t>tendance de long terme</a:t>
            </a:r>
            <a:r>
              <a:rPr lang="fr-CH" sz="1200" dirty="0"/>
              <a:t> </a:t>
            </a:r>
          </a:p>
          <a:p>
            <a:pPr lvl="0"/>
            <a:r>
              <a:rPr lang="fr-CH" sz="1200" dirty="0"/>
              <a:t>Les pandémies historiques étaient généralement suivies d'un </a:t>
            </a:r>
            <a:r>
              <a:rPr lang="fr-CH" sz="1200" b="1" dirty="0"/>
              <a:t>rebond des naissances</a:t>
            </a:r>
            <a:r>
              <a:rPr lang="fr-CH" sz="1200" dirty="0"/>
              <a:t> </a:t>
            </a:r>
          </a:p>
          <a:p>
            <a:pPr lvl="0"/>
            <a:r>
              <a:rPr lang="fr-CH" sz="1200" dirty="0"/>
              <a:t>COVID-19 : </a:t>
            </a:r>
            <a:r>
              <a:rPr lang="fr-CH" sz="1200" i="1" dirty="0"/>
              <a:t>« </a:t>
            </a:r>
            <a:r>
              <a:rPr lang="fr-CH" sz="1200" i="1" dirty="0" err="1"/>
              <a:t>pandemic</a:t>
            </a:r>
            <a:r>
              <a:rPr lang="fr-CH" sz="1200" i="1" dirty="0"/>
              <a:t> roller-</a:t>
            </a:r>
            <a:r>
              <a:rPr lang="fr-CH" sz="1200" i="1" dirty="0" err="1"/>
              <a:t>coaster</a:t>
            </a:r>
            <a:r>
              <a:rPr lang="fr-CH" sz="1200" i="1" dirty="0"/>
              <a:t> »</a:t>
            </a:r>
            <a:r>
              <a:rPr lang="fr-CH" sz="1200" dirty="0"/>
              <a:t> </a:t>
            </a:r>
          </a:p>
          <a:p>
            <a:pPr lvl="0"/>
            <a:r>
              <a:rPr lang="fr-CH" sz="1200" dirty="0"/>
              <a:t>En Suisse : </a:t>
            </a:r>
            <a:r>
              <a:rPr lang="fr-CH" sz="1200" b="1" dirty="0"/>
              <a:t>ICF = 1,29 en 2024</a:t>
            </a:r>
            <a:r>
              <a:rPr lang="fr-CH" sz="1200" dirty="0"/>
              <a:t>, plus bas niveau historique </a:t>
            </a:r>
          </a:p>
          <a:p>
            <a:pPr lvl="0"/>
            <a:r>
              <a:rPr lang="fr-CH" sz="1200" dirty="0"/>
              <a:t>La baisse observée en 2022+ </a:t>
            </a:r>
            <a:r>
              <a:rPr lang="fr-CH" sz="1200" b="1" dirty="0"/>
              <a:t>ne peut pas être attribuée uniquement au COVID</a:t>
            </a:r>
            <a:endParaRPr lang="fr-CH" sz="1200" dirty="0"/>
          </a:p>
        </p:txBody>
      </p:sp>
    </p:spTree>
    <p:extLst>
      <p:ext uri="{BB962C8B-B14F-4D97-AF65-F5344CB8AC3E}">
        <p14:creationId xmlns:p14="http://schemas.microsoft.com/office/powerpoint/2010/main" val="163904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0FE45-FB59-3210-E494-CE7C67A1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109F19-AAF1-B372-A38B-D5B29D29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066B1-5D95-A84B-B76E-9182D90F246B}" type="slidenum">
              <a:rPr lang="fr-CH" smtClean="0"/>
              <a:pPr/>
              <a:t>4</a:t>
            </a:fld>
            <a:endParaRPr lang="fr-CH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89FB252-1A5D-D785-38B8-D13C5F3F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z="2000" b="1" dirty="0"/>
              <a:t>Une forte hétérogénéité en Suisse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773D0D-6064-F1F4-334D-3F85EB53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9553"/>
            <a:ext cx="3699164" cy="3686525"/>
          </a:xfrm>
        </p:spPr>
        <p:txBody>
          <a:bodyPr/>
          <a:lstStyle/>
          <a:p>
            <a:r>
              <a:rPr lang="fr-CH" sz="1200" dirty="0"/>
              <a:t>La baisse de la natalité varie selon :</a:t>
            </a:r>
          </a:p>
          <a:p>
            <a:pPr lvl="1"/>
            <a:r>
              <a:rPr lang="fr-CH" sz="1200" dirty="0"/>
              <a:t>Région</a:t>
            </a:r>
          </a:p>
          <a:p>
            <a:pPr lvl="1"/>
            <a:r>
              <a:rPr lang="fr-CH" sz="1200" dirty="0"/>
              <a:t>Niveau socio-économique</a:t>
            </a:r>
          </a:p>
          <a:p>
            <a:pPr lvl="1"/>
            <a:r>
              <a:rPr lang="fr-CH" sz="1200" dirty="0"/>
              <a:t>Migration</a:t>
            </a:r>
          </a:p>
          <a:p>
            <a:pPr lvl="1"/>
            <a:r>
              <a:rPr lang="fr-CH" sz="1200" dirty="0"/>
              <a:t>Parité</a:t>
            </a:r>
          </a:p>
          <a:p>
            <a:pPr lvl="1"/>
            <a:r>
              <a:rPr lang="fr-CH" sz="1200" dirty="0"/>
              <a:t>Âge maternel</a:t>
            </a:r>
          </a:p>
          <a:p>
            <a:r>
              <a:rPr lang="fr-CH" dirty="0"/>
              <a:t>Analyses principalement </a:t>
            </a:r>
            <a:r>
              <a:rPr lang="fr-CH" b="1" dirty="0"/>
              <a:t>univariées</a:t>
            </a:r>
          </a:p>
          <a:p>
            <a:pPr lvl="1"/>
            <a:r>
              <a:rPr lang="fr-CH" dirty="0"/>
              <a:t>ne permettent pas de distinguer les facteurs associés</a:t>
            </a:r>
          </a:p>
          <a:p>
            <a:r>
              <a:rPr lang="fr-CH" dirty="0"/>
              <a:t>Peu de prise en compte de </a:t>
            </a:r>
            <a:r>
              <a:rPr lang="fr-CH" b="1" dirty="0"/>
              <a:t>l'âge maternel</a:t>
            </a:r>
          </a:p>
          <a:p>
            <a:pPr lvl="1"/>
            <a:r>
              <a:rPr lang="fr-CH" dirty="0"/>
              <a:t>différences de structure d’âge</a:t>
            </a:r>
          </a:p>
          <a:p>
            <a:pPr lvl="1"/>
            <a:r>
              <a:rPr lang="fr-CH" dirty="0"/>
              <a:t>report des naissances vers des âges plus élevés</a:t>
            </a:r>
          </a:p>
          <a:p>
            <a:endParaRPr lang="fr-CH" sz="1200" dirty="0"/>
          </a:p>
        </p:txBody>
      </p:sp>
    </p:spTree>
    <p:extLst>
      <p:ext uri="{BB962C8B-B14F-4D97-AF65-F5344CB8AC3E}">
        <p14:creationId xmlns:p14="http://schemas.microsoft.com/office/powerpoint/2010/main" val="311224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988475"/>
      </p:ext>
    </p:extLst>
  </p:cSld>
  <p:clrMapOvr>
    <a:masterClrMapping/>
  </p:clrMapOvr>
</p:sld>
</file>

<file path=ppt/theme/theme1.xml><?xml version="1.0" encoding="utf-8"?>
<a:theme xmlns:a="http://schemas.openxmlformats.org/drawingml/2006/main" name="PMU-23">
  <a:themeElements>
    <a:clrScheme name="Personnalisée 1">
      <a:dk1>
        <a:sysClr val="windowText" lastClr="000000"/>
      </a:dk1>
      <a:lt1>
        <a:sysClr val="window" lastClr="FFFFFF"/>
      </a:lt1>
      <a:dk2>
        <a:srgbClr val="696464"/>
      </a:dk2>
      <a:lt2>
        <a:srgbClr val="FFFCF3"/>
      </a:lt2>
      <a:accent1>
        <a:srgbClr val="DD271F"/>
      </a:accent1>
      <a:accent2>
        <a:srgbClr val="DD271F"/>
      </a:accent2>
      <a:accent3>
        <a:srgbClr val="DD261D"/>
      </a:accent3>
      <a:accent4>
        <a:srgbClr val="DE261D"/>
      </a:accent4>
      <a:accent5>
        <a:srgbClr val="DD261D"/>
      </a:accent5>
      <a:accent6>
        <a:srgbClr val="DD261F"/>
      </a:accent6>
      <a:hlink>
        <a:srgbClr val="DD261D"/>
      </a:hlink>
      <a:folHlink>
        <a:srgbClr val="DB281D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Modele powerpoint UNISANTE_16-9</Template>
  <TotalTime>200</TotalTime>
  <Words>192</Words>
  <Application>Microsoft Office PowerPoint</Application>
  <PresentationFormat>On-screen Show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Unicode MS</vt:lpstr>
      <vt:lpstr>Calibri</vt:lpstr>
      <vt:lpstr>PMU-23</vt:lpstr>
      <vt:lpstr>Conception personnalisée</vt:lpstr>
      <vt:lpstr>Caractérisation de la baisse des naissances en Suisse : analyse statistique de 2000 à 2025</vt:lpstr>
      <vt:lpstr>La baisse de la fécondité : un phénomène global</vt:lpstr>
      <vt:lpstr>Un phénomène ancien, mais une dynamique récente particulière</vt:lpstr>
      <vt:lpstr>Une forte hétérogénéité en Suisse</vt:lpstr>
      <vt:lpstr>PowerPoint Presentation</vt:lpstr>
    </vt:vector>
  </TitlesOfParts>
  <Company>CHUV | Centre hospitalier universitaire vaudois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Maadi Selsabil</dc:creator>
  <cp:lastModifiedBy>Hauser Anthony</cp:lastModifiedBy>
  <cp:revision>9</cp:revision>
  <dcterms:created xsi:type="dcterms:W3CDTF">2019-02-28T14:07:49Z</dcterms:created>
  <dcterms:modified xsi:type="dcterms:W3CDTF">2026-09-07T10:43:32Z</dcterms:modified>
</cp:coreProperties>
</file>
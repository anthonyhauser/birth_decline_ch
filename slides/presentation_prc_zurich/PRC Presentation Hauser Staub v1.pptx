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18"/>
  </p:notesMasterIdLst>
  <p:handoutMasterIdLst>
    <p:handoutMasterId r:id="rId19"/>
  </p:handoutMasterIdLst>
  <p:sldIdLst>
    <p:sldId id="354" r:id="rId5"/>
    <p:sldId id="1015" r:id="rId6"/>
    <p:sldId id="1014" r:id="rId7"/>
    <p:sldId id="258" r:id="rId8"/>
    <p:sldId id="1016" r:id="rId9"/>
    <p:sldId id="1011" r:id="rId10"/>
    <p:sldId id="1006" r:id="rId11"/>
    <p:sldId id="1007" r:id="rId12"/>
    <p:sldId id="1008" r:id="rId13"/>
    <p:sldId id="1009" r:id="rId14"/>
    <p:sldId id="1004" r:id="rId15"/>
    <p:sldId id="1003" r:id="rId16"/>
    <p:sldId id="1013" r:id="rId17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98000"/>
      </a:lnSpc>
      <a:spcBef>
        <a:spcPts val="0"/>
      </a:spcBef>
      <a:buFont typeface="+mj-lt"/>
      <a:buNone/>
      <a:defRPr sz="1600" kern="1200" spc="-10" baseline="0">
        <a:solidFill>
          <a:schemeClr val="tx1"/>
        </a:solidFill>
        <a:latin typeface="+mn-lt"/>
        <a:ea typeface="+mn-ea"/>
        <a:cs typeface="+mn-cs"/>
      </a:defRPr>
    </a:lvl1pPr>
    <a:lvl2pPr marL="174625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2pPr>
    <a:lvl3pPr marL="360363" indent="-185738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3pPr>
    <a:lvl4pPr marL="534988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4pPr>
    <a:lvl5pPr marL="719138" indent="-184150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152458D-D975-4659-9756-A6BAF0E2F024}">
          <p14:sldIdLst>
            <p14:sldId id="354"/>
            <p14:sldId id="1015"/>
            <p14:sldId id="1014"/>
            <p14:sldId id="258"/>
            <p14:sldId id="1016"/>
            <p14:sldId id="1011"/>
            <p14:sldId id="1006"/>
            <p14:sldId id="1007"/>
            <p14:sldId id="1008"/>
            <p14:sldId id="1009"/>
            <p14:sldId id="1004"/>
            <p14:sldId id="1003"/>
            <p14:sldId id="10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F7F7F7"/>
    <a:srgbClr val="0028A5"/>
    <a:srgbClr val="FF66FF"/>
    <a:srgbClr val="A4D233"/>
    <a:srgbClr val="FFFFFF"/>
    <a:srgbClr val="F1F3F3"/>
    <a:srgbClr val="E5EAE9"/>
    <a:srgbClr val="E1D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D820FD-8BF9-2B49-B00E-48BE0FA528D4}" v="91" dt="2026-06-15T11:49:54.340"/>
    <p1510:client id="{99ACC441-1C9E-8D8E-6A5D-9613637C5370}" v="484" dt="2026-06-15T06:59:19.458"/>
  </p1510:revLst>
</p1510:revInfo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UZH Standard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4233" cmpd="sng">
              <a:solidFill>
                <a:schemeClr val="dk1"/>
              </a:solidFill>
            </a:ln>
          </a:bottom>
          <a:insideH>
            <a:ln w="4233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>
        <a:schemeClr val="dk1"/>
      </a:tcTxStyle>
      <a:tcStyle>
        <a:tcBdr/>
        <a:fill>
          <a:noFill/>
        </a:fill>
      </a:tcStyle>
    </a:band1H>
    <a:band2H>
      <a:tcTxStyle>
        <a:schemeClr val="dk1"/>
      </a:tcTxStyle>
      <a:tcStyle>
        <a:tcBdr/>
        <a:fill>
          <a:noFill/>
        </a:fill>
      </a:tcStyle>
    </a:band2H>
    <a:band1V>
      <a:tcTxStyle>
        <a:schemeClr val="dk1"/>
      </a:tcTxStyle>
      <a:tcStyle>
        <a:tcBdr/>
        <a:fill>
          <a:noFill/>
        </a:fill>
      </a:tcStyle>
    </a:band1V>
    <a:band2V>
      <a:tcTxStyle>
        <a:schemeClr val="dk1"/>
      </a:tcTxStyle>
      <a:tcStyle>
        <a:tcBdr/>
        <a:fill>
          <a:noFill/>
        </a:fill>
      </a:tcStyle>
    </a:band2V>
    <a:lastCol>
      <a:tcTxStyle>
        <a:fontRef idx="major"/>
        <a:schemeClr val="dk1"/>
      </a:tcTxStyle>
      <a:tcStyle>
        <a:tcBdr/>
        <a:fill>
          <a:noFill/>
        </a:fill>
      </a:tcStyle>
    </a:lastCol>
    <a:firstCol>
      <a:tcTxStyle>
        <a:fontRef idx="major"/>
        <a:schemeClr val="dk1"/>
      </a:tcTxStyle>
      <a:tcStyle>
        <a:tcBdr/>
        <a:fill>
          <a:noFill/>
        </a:fill>
      </a:tcStyle>
    </a:firstCol>
    <a:lastRow>
      <a:tcTxStyle>
        <a:fontRef idx="major"/>
        <a:schemeClr val="dk1"/>
      </a:tcTxStyle>
      <a:tcStyle>
        <a:tcBdr>
          <a:top>
            <a:ln w="4233" cmpd="sng">
              <a:solidFill>
                <a:schemeClr val="dk1"/>
              </a:solidFill>
            </a:ln>
          </a:top>
          <a:bottom>
            <a:ln w="4233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>
        <a:fontRef idx="major"/>
        <a:schemeClr val="dk1"/>
      </a:tcTxStyle>
      <a:tcStyle>
        <a:tcBdr>
          <a:top>
            <a:ln>
              <a:noFill/>
            </a:ln>
          </a:top>
          <a:bottom>
            <a:ln w="1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88686" autoAdjust="0"/>
  </p:normalViewPr>
  <p:slideViewPr>
    <p:cSldViewPr snapToGrid="0">
      <p:cViewPr varScale="1">
        <p:scale>
          <a:sx n="91" d="100"/>
          <a:sy n="91" d="100"/>
        </p:scale>
        <p:origin x="11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30.09.2026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‹#›</a:t>
            </a:fld>
            <a:endParaRPr lang="de-CH" sz="90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30.09.2026</a:t>
            </a:fld>
            <a:endParaRPr lang="de-CH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 very much for giving us the opportunity to provide a brief update today on our Seed Grant project regarding the declining birth rate in Switzerland. </a:t>
            </a:r>
          </a:p>
          <a:p>
            <a:endParaRPr lang="en-CH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H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am doing this together with Katja Rost and Tilo Burkhard, who are co-project leaders but are not present today. Tilo has since left the University Hospital of Zurich. </a:t>
            </a:r>
          </a:p>
          <a:p>
            <a:endParaRPr lang="en-CH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H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above all, I am doing this together with Anthony Hauser, whom I was able to employ part-time on this project for four months at the beginning of this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29871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B50DB-5897-808B-7505-673493424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4DAC46-C331-420F-D738-AEE406DA8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3D8073-BB60-F83B-B5A0-DC584CD72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CH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topic remains highly relevant, as evidenced by these media reports from just the past few days,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CH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CH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discussion centers on understanding the reasons behind it, the political aspects, and what this means for the future.</a:t>
            </a:r>
          </a:p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1E3B8-82C1-F663-7578-3845154A7C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90689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CH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always fascinates me is how we tend to feel that this is a new phenomenon—whether it’s the trend itself or the public discussion surrounding it.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CH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CH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Yet, if you look at the long-term trend, birth rates have been declining for about 125, except for the 1950s and 1960s,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CH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CH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media has always discussed this phenomenon and its possible causes at length. Here is an example from a Zurich newspaper from 100 years ago.</a:t>
            </a:r>
          </a:p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21522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CH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Anyway, here’s a quick reminder of what we plan to do in our Seed Grant project.</a:t>
            </a:r>
          </a:p>
          <a:p>
            <a:endParaRPr lang="en-CH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H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now Anthony will show you what our update to the BevNat data has delivered.</a:t>
            </a:r>
          </a:p>
          <a:p>
            <a:endParaRPr lang="en-CH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DFA95-478C-0D77-9251-C5A873E6C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69480F-4F06-5DD8-3274-4C667E17C4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D9D04-0083-41CA-BF1F-DACCE6BDCA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CH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Anyway, here’s a quick reminder of what we plan to do in our Seed Grant project.</a:t>
            </a:r>
          </a:p>
          <a:p>
            <a:endParaRPr lang="en-CH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H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now Anthony will show you what our update to the BevNat data has delivered.</a:t>
            </a:r>
          </a:p>
          <a:p>
            <a:endParaRPr lang="en-CH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CA9FE-72D3-829B-D277-062AF0D29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747106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Goal: assess variation over time and region in birth rate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After account for two factors that directly impact birth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Women have children at an increasingly higher age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To do so, we use two data sources.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And we use a negative-binomial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Figure shows the  model fit with observed in red and expected with the black line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And here, expected counts has a very specific meaning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While we keep fertility levels constant, the model still allows to shift to older ages to represent delayed childbearing.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Arial"/>
                <a:ea typeface="Calibri"/>
                <a:cs typeface="Arial"/>
              </a:rPr>
              <a:t>Then we can naturally define excess births. And we will use this outcome in order to explore variations over time but also over space/</a:t>
            </a:r>
            <a:r>
              <a:rPr lang="en-US" err="1">
                <a:latin typeface="Arial"/>
                <a:ea typeface="Calibri"/>
                <a:cs typeface="Arial"/>
              </a:rPr>
              <a:t>municipalit</a:t>
            </a:r>
            <a:r>
              <a:rPr lang="en-US">
                <a:latin typeface="Arial"/>
                <a:ea typeface="Calibri"/>
                <a:cs typeface="Arial"/>
              </a:rPr>
              <a:t>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0479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Temporary increase in 2021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And when we investigate the monthly excess, we actually observe two peaks which happens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Suggest that it could be an indirect effect of COVID-19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70702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Red means lower than expected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57052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Opinion about childcare policies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For each variable, we group municipalities in 10 variable deciles and calculate excess birth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For other variables, results are less clear and also more difficult to interpret because they could be confounded by population density (distort)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47699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But what is common is the decrease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less apparent for the first child and mostly occurs from the second child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68227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77ABC-9549-CBE8-0B8E-84F6B7A30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FEC848-4F88-B0D0-E582-198E6083B9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3C5874-980A-F9A0-D015-327E46BA79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CH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explored various ways of data triangulation, but soon realized that this was more challenging than we had anticipated.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CH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CH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Either the other datasets didn’t provide any additional variables, or their coverage wasn’t as good as we had expected, or their spatial resolution wasn’t high enough.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CH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CH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we ended up discovering more obstacles and gaps than anything else. But all of this will now be incorporated into Step 3: the larger grant application.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A3B05-EF0A-306E-2E8A-D257C2A0E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257475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96053-94C8-3ADE-3C03-CE55CDFE2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C66D4-8BA8-0A88-39BB-D11EA774AA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CD278C-B298-940E-2D1E-ABF279797E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FE3C0-EFC7-1335-A90F-DFCBFD460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855310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CH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topic remains highly relevant, as evidenced by these media reports from just the past few days,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CH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CH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discussion centers on understanding the reasons behind it, the political aspects, and what this means for the future.</a:t>
            </a:r>
          </a:p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82010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78185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 anchorCtr="0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  <a:prstGeom prst="rect">
            <a:avLst/>
          </a:prstGeom>
        </p:spPr>
        <p:txBody>
          <a:bodyPr/>
          <a:lstStyle>
            <a:lvl1pPr>
              <a:defRPr sz="100"/>
            </a:lvl1pPr>
          </a:lstStyle>
          <a:p>
            <a:r>
              <a:rPr lang="en-GB" noProof="0"/>
              <a:t> 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  <a:prstGeom prst="rect">
            <a:avLst/>
          </a:prstGeom>
        </p:spPr>
        <p:txBody>
          <a:bodyPr/>
          <a:lstStyle>
            <a:lvl1pPr>
              <a:defRPr sz="100"/>
            </a:lvl1pPr>
          </a:lstStyle>
          <a:p>
            <a:r>
              <a:rPr lang="en-GB" noProof="0"/>
              <a:t> 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  <a:prstGeom prst="rect">
            <a:avLst/>
          </a:prstGeom>
        </p:spPr>
        <p:txBody>
          <a:bodyPr/>
          <a:lstStyle>
            <a:lvl1pPr>
              <a:defRPr sz="100"/>
            </a:lvl1pPr>
          </a:lstStyle>
          <a:p>
            <a:r>
              <a:rPr lang="en-GB" noProof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00B2A4-A548-86D9-6FFA-57A63AC10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/>
              <a:t>Insert title</a:t>
            </a:r>
          </a:p>
          <a:p>
            <a:pPr lvl="1"/>
            <a:r>
              <a:rPr lang="en-GB" noProof="0"/>
              <a:t>Level 2 (Subtitle)</a:t>
            </a:r>
          </a:p>
          <a:p>
            <a:pPr lvl="2"/>
            <a:r>
              <a:rPr lang="en-GB" noProof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631474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  <a:prstGeom prst="rect">
            <a:avLst/>
          </a:prstGeo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 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  <a:prstGeom prst="rect">
            <a:avLst/>
          </a:prstGeo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 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  <a:prstGeom prst="rect">
            <a:avLst/>
          </a:prstGeo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 </a:t>
            </a:r>
          </a:p>
        </p:txBody>
      </p:sp>
      <p:sp>
        <p:nvSpPr>
          <p:cNvPr id="3" name="Textplatzhalter 4">
            <a:extLst>
              <a:ext uri="{FF2B5EF4-FFF2-40B4-BE49-F238E27FC236}">
                <a16:creationId xmlns:a16="http://schemas.microsoft.com/office/drawing/2014/main" id="{C29F396F-B178-E66F-3662-2CC65CD8A7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/>
              <a:t>Insert title</a:t>
            </a:r>
          </a:p>
          <a:p>
            <a:pPr lvl="1"/>
            <a:r>
              <a:rPr lang="en-GB" noProof="0"/>
              <a:t>Level 2 (Subtitle)</a:t>
            </a:r>
          </a:p>
          <a:p>
            <a:pPr lvl="2"/>
            <a:r>
              <a:rPr lang="en-GB" noProof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226003872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Universitäts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  <a:prstGeom prst="rect">
            <a:avLst/>
          </a:prstGeo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DEC16BC5-71A3-4EAA-B734-0870A4D7F723}" type="datetime1">
              <a:rPr lang="en-GB" noProof="0" smtClean="0"/>
              <a:pPr/>
              <a:t>30/09/2026</a:t>
            </a:fld>
            <a:endParaRPr lang="en-GB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  <a:prstGeom prst="rect">
            <a:avLst/>
          </a:prstGeo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  <a:prstGeom prst="rect">
            <a:avLst/>
          </a:prstGeo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D526C9F-D78C-A1C8-B22D-122736EC2F5E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7B00AE1C-C971-C5C1-1DCB-41F3370C34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err="1"/>
              <a:t>Organisationseinheit</a:t>
            </a:r>
            <a:endParaRPr lang="en-GB" noProof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EBEE38-90C0-68F8-53F6-37ACBFF105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/>
              <a:t>Insert title</a:t>
            </a:r>
          </a:p>
          <a:p>
            <a:pPr lvl="1"/>
            <a:r>
              <a:rPr lang="en-GB" noProof="0"/>
              <a:t>Level 2 (Subtitle)</a:t>
            </a:r>
          </a:p>
          <a:p>
            <a:pPr lvl="2"/>
            <a:r>
              <a:rPr lang="en-GB" noProof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297071185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folie mi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49788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CH" noProof="0"/>
              <a:t> 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CH" noProof="0"/>
              <a:t> 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CH" noProof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11DA3BE-00CD-1BA7-A6C5-5D9732DE88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de-CH" noProof="0"/>
              <a:t>Organisationseinheit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295A67BB-618C-1D20-BBA9-4290E06F60D0}"/>
              </a:ext>
            </a:extLst>
          </p:cNvPr>
          <p:cNvCxnSpPr>
            <a:cxnSpLocks/>
          </p:cNvCxnSpPr>
          <p:nvPr userDrawn="1"/>
        </p:nvCxnSpPr>
        <p:spPr>
          <a:xfrm>
            <a:off x="149196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CBF91D96-3640-965E-5C15-FE5E1A4623FE}"/>
              </a:ext>
            </a:extLst>
          </p:cNvPr>
          <p:cNvCxnSpPr>
            <a:cxnSpLocks/>
          </p:cNvCxnSpPr>
          <p:nvPr userDrawn="1"/>
        </p:nvCxnSpPr>
        <p:spPr>
          <a:xfrm>
            <a:off x="295174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A04CBAD-2C4F-A402-4949-1283FB197368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2F3AE3-7ACB-2716-808B-C82789FE83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710544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de-CH" noProof="0"/>
              <a:t>Titel hinzufügen</a:t>
            </a:r>
          </a:p>
          <a:p>
            <a:pPr lvl="1"/>
            <a:r>
              <a:rPr lang="de-CH" noProof="0"/>
              <a:t>Zweite Ebene (Untertitel)</a:t>
            </a:r>
          </a:p>
          <a:p>
            <a:pPr lvl="2"/>
            <a:r>
              <a:rPr lang="de-CH" noProof="0"/>
              <a:t>Dritte Ebene (Vorname Name/Datum)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E83E2F52-3C2B-4B60-8118-16A85372CD8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69875" y="6237312"/>
            <a:ext cx="1020763" cy="349948"/>
          </a:xfrm>
        </p:spPr>
        <p:txBody>
          <a:bodyPr/>
          <a:lstStyle/>
          <a:p>
            <a:pPr lvl="0"/>
            <a:r>
              <a:rPr lang="de-DE"/>
              <a:t>Logo</a:t>
            </a:r>
          </a:p>
          <a:p>
            <a:pPr lvl="0"/>
            <a:endParaRPr lang="de-DE"/>
          </a:p>
        </p:txBody>
      </p:sp>
      <p:sp>
        <p:nvSpPr>
          <p:cNvPr id="10" name="Inhaltsplatzhalter 6">
            <a:extLst>
              <a:ext uri="{FF2B5EF4-FFF2-40B4-BE49-F238E27FC236}">
                <a16:creationId xmlns:a16="http://schemas.microsoft.com/office/drawing/2014/main" id="{E0261D7E-EC98-5E7A-CB6D-2B7FC46A0C1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713099" y="6237312"/>
            <a:ext cx="1020763" cy="349948"/>
          </a:xfrm>
        </p:spPr>
        <p:txBody>
          <a:bodyPr/>
          <a:lstStyle/>
          <a:p>
            <a:pPr lvl="0"/>
            <a:r>
              <a:rPr lang="de-DE"/>
              <a:t>Logo</a:t>
            </a:r>
          </a:p>
          <a:p>
            <a:pPr lvl="0"/>
            <a:endParaRPr lang="de-DE"/>
          </a:p>
        </p:txBody>
      </p:sp>
      <p:sp>
        <p:nvSpPr>
          <p:cNvPr id="12" name="Inhaltsplatzhalter 6">
            <a:extLst>
              <a:ext uri="{FF2B5EF4-FFF2-40B4-BE49-F238E27FC236}">
                <a16:creationId xmlns:a16="http://schemas.microsoft.com/office/drawing/2014/main" id="{C9ABCD67-F906-BE05-2C7F-0F49618C541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156324" y="6237312"/>
            <a:ext cx="1020763" cy="349948"/>
          </a:xfrm>
        </p:spPr>
        <p:txBody>
          <a:bodyPr/>
          <a:lstStyle/>
          <a:p>
            <a:pPr lvl="0"/>
            <a:r>
              <a:rPr lang="de-DE"/>
              <a:t>Logo</a:t>
            </a:r>
          </a:p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553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550256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BF8196C-9AA4-1A52-3A52-266B8455B1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3977F8A2-6FE9-3F53-30EE-28E4D90B4F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err="1"/>
              <a:t>Organisationseinheit</a:t>
            </a:r>
            <a:endParaRPr lang="en-GB" noProof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BE9ACD7A-E1D6-6C18-F747-2BC351C0BFE8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1B5C03F1-AC5E-6863-6760-BDE7B33AD4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/>
              <a:t>Insert title</a:t>
            </a:r>
          </a:p>
          <a:p>
            <a:pPr lvl="1"/>
            <a:r>
              <a:rPr lang="en-GB" noProof="0"/>
              <a:t>Level 2 (Subtitle)</a:t>
            </a:r>
          </a:p>
          <a:p>
            <a:pPr lvl="2"/>
            <a:r>
              <a:rPr lang="en-GB" noProof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4202214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2F7DDFE4-29E1-462D-9CCC-A725922B2A90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Textplatzhalter 4">
            <a:extLst>
              <a:ext uri="{FF2B5EF4-FFF2-40B4-BE49-F238E27FC236}">
                <a16:creationId xmlns:a16="http://schemas.microsoft.com/office/drawing/2014/main" id="{48EC57F8-2FF9-F2DC-C053-E44A7DBF4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209675"/>
            <a:ext cx="1983799" cy="1308143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/>
              <a:t>Insert title</a:t>
            </a:r>
          </a:p>
          <a:p>
            <a:pPr lvl="1"/>
            <a:r>
              <a:rPr lang="en-GB" noProof="0"/>
              <a:t>Insert text</a:t>
            </a:r>
          </a:p>
          <a:p>
            <a:pPr lv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37750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>
            <a:extLst>
              <a:ext uri="{FF2B5EF4-FFF2-40B4-BE49-F238E27FC236}">
                <a16:creationId xmlns:a16="http://schemas.microsoft.com/office/drawing/2014/main" id="{62E6E148-5F7E-6A90-F5E7-CAF43EF2FF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75" y="866775"/>
            <a:ext cx="11652249" cy="5150546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9EAA94FD-9F5E-4526-A59D-32E4C3E4561F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Footer (Edit via "Insert &gt; Header and Footer")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/>
              <a:t>Insert source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BE9C36D1-1F3E-2830-76B5-553669943C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8287" y="4971927"/>
            <a:ext cx="4734000" cy="689123"/>
          </a:xfrm>
          <a:solidFill>
            <a:schemeClr val="bg1"/>
          </a:solidFill>
        </p:spPr>
        <p:txBody>
          <a:bodyPr lIns="144000" tIns="144000" rIns="144000" bIns="180000" anchor="ctr">
            <a:spAutoFit/>
          </a:bodyPr>
          <a:lstStyle>
            <a:lvl1pPr algn="ctr">
              <a:lnSpc>
                <a:spcPct val="98000"/>
              </a:lnSpc>
              <a:defRPr sz="2400" b="0"/>
            </a:lvl1pPr>
          </a:lstStyle>
          <a:p>
            <a:pPr lvl="0"/>
            <a:r>
              <a:rPr lang="en-GB" noProof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2677703303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289224"/>
            <a:ext cx="11650663" cy="5935364"/>
          </a:xfrm>
          <a:solidFill>
            <a:schemeClr val="accent1"/>
          </a:solidFill>
        </p:spPr>
        <p:txBody>
          <a:bodyPr tIns="324000" rIns="0" anchor="t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50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74625" indent="-174625" algn="r">
              <a:buFont typeface="Source Sans Pro" panose="020B0503030403020204" pitchFamily="34" charset="0"/>
              <a:buChar char="―"/>
              <a:defRPr/>
            </a:lvl2pPr>
            <a:lvl3pPr marL="360363" indent="-185738" algn="r">
              <a:buFont typeface="Source Sans Pro" panose="020B0503030403020204" pitchFamily="34" charset="0"/>
              <a:buChar char="―"/>
              <a:defRPr/>
            </a:lvl3pPr>
            <a:lvl4pPr marL="534988" indent="-174625" algn="r">
              <a:buFont typeface="Source Sans Pro" panose="020B0503030403020204" pitchFamily="34" charset="0"/>
              <a:buChar char="―"/>
              <a:defRPr/>
            </a:lvl4pPr>
            <a:lvl5pPr marL="719138" indent="-184150" algn="r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de-CH"/>
              <a:t>0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AC22425B-D5B6-4FA7-A09E-3FB28EC05106}" type="datetime1">
              <a:rPr lang="de-CH" smtClean="0"/>
              <a:t>30.09.2026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 (Edit via "Insert &gt; Header and Footer")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71409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70744"/>
            <a:ext cx="11650663" cy="51505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52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1169CF04-5ADD-46B4-A33A-958F168A45EF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1289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66774"/>
            <a:ext cx="9324000" cy="4816476"/>
          </a:xfrm>
        </p:spPr>
        <p:txBody>
          <a:bodyPr anchor="ctr"/>
          <a:lstStyle>
            <a:lvl1pPr>
              <a:lnSpc>
                <a:spcPct val="97000"/>
              </a:lnSpc>
              <a:spcBef>
                <a:spcPts val="0"/>
              </a:spcBef>
              <a:defRPr sz="3000"/>
            </a:lvl1pPr>
            <a:lvl2pPr>
              <a:lnSpc>
                <a:spcPct val="97000"/>
              </a:lnSpc>
              <a:spcBef>
                <a:spcPts val="1000"/>
              </a:spcBef>
              <a:defRPr sz="3000"/>
            </a:lvl2pPr>
            <a:lvl3pPr>
              <a:lnSpc>
                <a:spcPct val="97000"/>
              </a:lnSpc>
              <a:spcBef>
                <a:spcPts val="1000"/>
              </a:spcBef>
              <a:defRPr sz="3000"/>
            </a:lvl3pPr>
            <a:lvl4pPr>
              <a:lnSpc>
                <a:spcPct val="97000"/>
              </a:lnSpc>
              <a:spcBef>
                <a:spcPts val="1000"/>
              </a:spcBef>
              <a:defRPr sz="3000"/>
            </a:lvl4pPr>
            <a:lvl5pPr>
              <a:lnSpc>
                <a:spcPct val="97000"/>
              </a:lnSpc>
              <a:spcBef>
                <a:spcPts val="1000"/>
              </a:spcBef>
              <a:defRPr sz="3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D28B2B53-C25B-47AA-BE55-7AE6543E5E6C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62266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5722937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chapter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271463" y="866774"/>
            <a:ext cx="5722937" cy="5133447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05AA103E-E046-4633-82BC-9D6A840CE35D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42888"/>
            <a:ext cx="5722937" cy="5981700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958C9C6E-122D-B369-EB0B-2386BA817C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875" y="6000221"/>
            <a:ext cx="5722937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39AB9864-0552-4F44-B494-D03F4683B094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62" y="1371600"/>
            <a:ext cx="5724000" cy="4628621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defRPr sz="1600"/>
            </a:lvl3pPr>
            <a:lvl4pPr marL="1090800" indent="-226800">
              <a:spcBef>
                <a:spcPts val="1000"/>
              </a:spcBef>
              <a:spcAft>
                <a:spcPts val="0"/>
              </a:spcAft>
              <a:defRPr sz="1600"/>
            </a:lvl4pPr>
            <a:lvl5pPr marL="1522800" indent="-342000">
              <a:spcBef>
                <a:spcPts val="1000"/>
              </a:spcBef>
              <a:spcAft>
                <a:spcPts val="0"/>
              </a:spcAft>
              <a:defRPr sz="16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/>
              <a:t>Insert chapter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00221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1697817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Inhalte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FF8592F2-A22B-4129-BF43-10974110EFE1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Footer (Edit via "Insert &gt; Header and Footer")</a:t>
            </a:r>
            <a:endParaRPr lang="en-GB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/>
              <a:t>Insert source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D08B5C7-0B72-0F94-738C-A9B735A2519D}"/>
              </a:ext>
            </a:extLst>
          </p:cNvPr>
          <p:cNvCxnSpPr>
            <a:cxnSpLocks/>
          </p:cNvCxnSpPr>
          <p:nvPr userDrawn="1"/>
        </p:nvCxnSpPr>
        <p:spPr>
          <a:xfrm>
            <a:off x="273050" y="515507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6987E16-61C3-F16E-EBD2-164E17176CF4}"/>
              </a:ext>
            </a:extLst>
          </p:cNvPr>
          <p:cNvCxnSpPr>
            <a:cxnSpLocks/>
          </p:cNvCxnSpPr>
          <p:nvPr userDrawn="1"/>
        </p:nvCxnSpPr>
        <p:spPr>
          <a:xfrm>
            <a:off x="3228366" y="51550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7071907-BBD2-40D4-55E0-1E83C4F6D6BC}"/>
              </a:ext>
            </a:extLst>
          </p:cNvPr>
          <p:cNvCxnSpPr>
            <a:cxnSpLocks/>
          </p:cNvCxnSpPr>
          <p:nvPr userDrawn="1"/>
        </p:nvCxnSpPr>
        <p:spPr>
          <a:xfrm>
            <a:off x="3233129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CE74047-F734-D6A9-08E0-D291395944F0}"/>
              </a:ext>
            </a:extLst>
          </p:cNvPr>
          <p:cNvCxnSpPr>
            <a:cxnSpLocks/>
          </p:cNvCxnSpPr>
          <p:nvPr userDrawn="1"/>
        </p:nvCxnSpPr>
        <p:spPr>
          <a:xfrm>
            <a:off x="276265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E45E1AF-C792-F20E-F289-890F955A6D57}"/>
              </a:ext>
            </a:extLst>
          </p:cNvPr>
          <p:cNvCxnSpPr>
            <a:cxnSpLocks/>
          </p:cNvCxnSpPr>
          <p:nvPr userDrawn="1"/>
        </p:nvCxnSpPr>
        <p:spPr>
          <a:xfrm>
            <a:off x="273449" y="172635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98DB0037-139C-0385-E03A-306D5169233B}"/>
              </a:ext>
            </a:extLst>
          </p:cNvPr>
          <p:cNvCxnSpPr>
            <a:cxnSpLocks/>
          </p:cNvCxnSpPr>
          <p:nvPr userDrawn="1"/>
        </p:nvCxnSpPr>
        <p:spPr>
          <a:xfrm>
            <a:off x="3230961" y="1721590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30017B53-05EC-3989-249C-664AD90907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30670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37" name="Textplatzhalter 27">
            <a:extLst>
              <a:ext uri="{FF2B5EF4-FFF2-40B4-BE49-F238E27FC236}">
                <a16:creationId xmlns:a16="http://schemas.microsoft.com/office/drawing/2014/main" id="{714803E2-4C7F-CFE5-7B57-C3F213A340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3050" y="531018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38" name="Textplatzhalter 27">
            <a:extLst>
              <a:ext uri="{FF2B5EF4-FFF2-40B4-BE49-F238E27FC236}">
                <a16:creationId xmlns:a16="http://schemas.microsoft.com/office/drawing/2014/main" id="{9C152131-ED74-0F59-B477-F10CE617C4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2838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41" name="Textplatzhalter 27">
            <a:extLst>
              <a:ext uri="{FF2B5EF4-FFF2-40B4-BE49-F238E27FC236}">
                <a16:creationId xmlns:a16="http://schemas.microsoft.com/office/drawing/2014/main" id="{1182E294-3DAE-8397-D78D-AE19E051369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8075" y="53101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42" name="Textplatzhalter 27">
            <a:extLst>
              <a:ext uri="{FF2B5EF4-FFF2-40B4-BE49-F238E27FC236}">
                <a16:creationId xmlns:a16="http://schemas.microsoft.com/office/drawing/2014/main" id="{F8CA09C2-6A74-C429-81F0-F2CA0C0A8B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8366" y="44043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43" name="Textplatzhalter 27">
            <a:extLst>
              <a:ext uri="{FF2B5EF4-FFF2-40B4-BE49-F238E27FC236}">
                <a16:creationId xmlns:a16="http://schemas.microsoft.com/office/drawing/2014/main" id="{79EF64BE-BAA5-7A03-2892-71B58B0FA7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3050" y="440436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B37CF961-4AA4-3E2D-1EEC-751B07F74E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45" name="Textplatzhalter 27">
            <a:extLst>
              <a:ext uri="{FF2B5EF4-FFF2-40B4-BE49-F238E27FC236}">
                <a16:creationId xmlns:a16="http://schemas.microsoft.com/office/drawing/2014/main" id="{A75866BD-D0AA-3041-796D-1EB9B1F3A8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3128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46" name="Textplatzhalter 27">
            <a:extLst>
              <a:ext uri="{FF2B5EF4-FFF2-40B4-BE49-F238E27FC236}">
                <a16:creationId xmlns:a16="http://schemas.microsoft.com/office/drawing/2014/main" id="{348CBF73-5164-67ED-100D-52F0577F0D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48" name="Textplatzhalter 27">
            <a:extLst>
              <a:ext uri="{FF2B5EF4-FFF2-40B4-BE49-F238E27FC236}">
                <a16:creationId xmlns:a16="http://schemas.microsoft.com/office/drawing/2014/main" id="{E413BFB1-BE2B-5698-D056-CFFE93D63A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3448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49" name="Textplatzhalter 27">
            <a:extLst>
              <a:ext uri="{FF2B5EF4-FFF2-40B4-BE49-F238E27FC236}">
                <a16:creationId xmlns:a16="http://schemas.microsoft.com/office/drawing/2014/main" id="{A6AD1D29-4F20-7C67-177C-5F66137D5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3448" y="9756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A60B2A3C-D051-ADD5-9279-F6C77B9515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0960" y="9708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64862852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DC01D08B-BC87-4A6B-BAB6-A8ACF5B160B4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273378"/>
            <a:ext cx="5724000" cy="560164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88400" y="866774"/>
            <a:ext cx="5724000" cy="5357813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3pPr>
            <a:lvl4pPr marL="101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400" y="244800"/>
            <a:ext cx="5723999" cy="519436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/>
              <a:t>Insert chapter title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ABC8980-79BC-7792-05E5-871BA6059E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875" y="6029325"/>
            <a:ext cx="5724525" cy="195263"/>
          </a:xfrm>
        </p:spPr>
        <p:txBody>
          <a:bodyPr anchor="b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GB" noProof="0"/>
              <a:t>Insert caption</a:t>
            </a:r>
          </a:p>
        </p:txBody>
      </p:sp>
    </p:spTree>
    <p:extLst>
      <p:ext uri="{BB962C8B-B14F-4D97-AF65-F5344CB8AC3E}">
        <p14:creationId xmlns:p14="http://schemas.microsoft.com/office/powerpoint/2010/main" val="27742461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, drei Flächen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4">
            <a:extLst>
              <a:ext uri="{FF2B5EF4-FFF2-40B4-BE49-F238E27FC236}">
                <a16:creationId xmlns:a16="http://schemas.microsoft.com/office/drawing/2014/main" id="{5A065272-38F7-A074-824D-FD6B0FAB5CA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866774"/>
            <a:ext cx="5724000" cy="535781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11648525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94B49354-1A46-41EB-9B56-F72C8C8A693E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602800"/>
            <a:ext cx="5722937" cy="3621787"/>
          </a:xfrm>
        </p:spPr>
        <p:txBody>
          <a:bodyPr/>
          <a:lstStyle>
            <a:lvl1pPr>
              <a:spcBef>
                <a:spcPts val="1000"/>
              </a:spcBef>
              <a:defRPr sz="1600"/>
            </a:lvl1pPr>
            <a:lvl2pPr marL="226800" indent="-226800">
              <a:spcBef>
                <a:spcPts val="0"/>
              </a:spcBef>
              <a:defRPr sz="1600"/>
            </a:lvl2pPr>
            <a:lvl3pPr marL="658800" indent="-226800">
              <a:spcBef>
                <a:spcPts val="0"/>
              </a:spcBef>
              <a:defRPr sz="1600"/>
            </a:lvl3pPr>
            <a:lvl4pPr marL="1090800" indent="-226800">
              <a:spcBef>
                <a:spcPts val="0"/>
              </a:spcBef>
              <a:defRPr sz="1600"/>
            </a:lvl4pPr>
            <a:lvl5pPr marL="1522800" indent="-226800">
              <a:spcBef>
                <a:spcPts val="0"/>
              </a:spcBef>
              <a:defRPr sz="16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5C25F038-C59A-91D3-5738-FA2D715B1D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8287" y="4738688"/>
            <a:ext cx="4734000" cy="1155600"/>
          </a:xfrm>
          <a:solidFill>
            <a:schemeClr val="bg1"/>
          </a:solidFill>
        </p:spPr>
        <p:txBody>
          <a:bodyPr lIns="180000" anchor="ctr"/>
          <a:lstStyle>
            <a:lvl1pPr>
              <a:lnSpc>
                <a:spcPct val="98000"/>
              </a:lnSpc>
              <a:defRPr sz="2400" b="0"/>
            </a:lvl1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BFFCDAC-C838-ADD4-2284-837AC0DB7D32}"/>
              </a:ext>
            </a:extLst>
          </p:cNvPr>
          <p:cNvSpPr>
            <a:spLocks/>
          </p:cNvSpPr>
          <p:nvPr userDrawn="1"/>
        </p:nvSpPr>
        <p:spPr>
          <a:xfrm>
            <a:off x="6179816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>
              <a:solidFill>
                <a:schemeClr val="bg1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D52F735-79F5-3F42-160A-B27CDCC6ECBC}"/>
              </a:ext>
            </a:extLst>
          </p:cNvPr>
          <p:cNvCxnSpPr>
            <a:cxnSpLocks/>
          </p:cNvCxnSpPr>
          <p:nvPr userDrawn="1"/>
        </p:nvCxnSpPr>
        <p:spPr>
          <a:xfrm>
            <a:off x="6357417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5E8ED3B-58AB-278E-8FA6-54B5367691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79816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50E60B21-008A-2B6B-00EE-55A0A5704E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79816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/>
              <a:t>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AB97A8F-A31B-71A8-6F59-6CF07FEC341B}"/>
              </a:ext>
            </a:extLst>
          </p:cNvPr>
          <p:cNvSpPr>
            <a:spLocks/>
          </p:cNvSpPr>
          <p:nvPr userDrawn="1"/>
        </p:nvSpPr>
        <p:spPr>
          <a:xfrm>
            <a:off x="81612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>
              <a:solidFill>
                <a:schemeClr val="bg1"/>
              </a:solidFill>
            </a:endParaRP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20494D9F-526C-2E69-E603-70C47570B76A}"/>
              </a:ext>
            </a:extLst>
          </p:cNvPr>
          <p:cNvCxnSpPr>
            <a:cxnSpLocks/>
          </p:cNvCxnSpPr>
          <p:nvPr userDrawn="1"/>
        </p:nvCxnSpPr>
        <p:spPr>
          <a:xfrm>
            <a:off x="83500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12">
            <a:extLst>
              <a:ext uri="{FF2B5EF4-FFF2-40B4-BE49-F238E27FC236}">
                <a16:creationId xmlns:a16="http://schemas.microsoft.com/office/drawing/2014/main" id="{CD54ACCC-E2D7-61F6-43F8-B08BB0DF890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612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AE30B499-759C-236B-6D1C-6BCA6F207D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612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/>
              <a:t>0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C39869D-3DD1-49E4-9B99-D5ADADC37626}"/>
              </a:ext>
            </a:extLst>
          </p:cNvPr>
          <p:cNvSpPr>
            <a:spLocks/>
          </p:cNvSpPr>
          <p:nvPr userDrawn="1"/>
        </p:nvSpPr>
        <p:spPr>
          <a:xfrm>
            <a:off x="101304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>
              <a:solidFill>
                <a:schemeClr val="bg1"/>
              </a:solidFill>
            </a:endParaRP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C74D9E1-33AE-B3A6-62C5-702A8706EDCA}"/>
              </a:ext>
            </a:extLst>
          </p:cNvPr>
          <p:cNvCxnSpPr>
            <a:cxnSpLocks/>
          </p:cNvCxnSpPr>
          <p:nvPr userDrawn="1"/>
        </p:nvCxnSpPr>
        <p:spPr>
          <a:xfrm>
            <a:off x="103192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172486-FB2A-0D37-20BD-766B69EC16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1304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A5D721FD-5C54-2030-F7DF-99F78870D3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1304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42525644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9E05F214-4AD4-4D89-AE61-CF34C7806923}" type="datetime1">
              <a:rPr lang="de-CH" noProof="0" smtClean="0"/>
              <a:t>30.09.2026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77660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Insert chapter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AE2C0931-09B0-4B39-995C-BB4BD36DB6C3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908720"/>
            <a:ext cx="7701073" cy="531586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9B29A34-DB3C-6631-0D19-C1C5DF5EA28A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4205440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7EF33BA8-25F9-4DC4-8DF6-71C6AEBB6E7E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5713388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FD440920-B1A2-4FB0-981D-DAC5A3A0DBB6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7210839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7E36D67C-8BF7-4CBC-9036-CC970B8B4F9A}" type="datetime1">
              <a:rPr lang="de-CH" noProof="0" smtClean="0"/>
              <a:t>30.09.2026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20069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07BF17AC-F94E-4589-8B72-E87890D6CDE5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2115A716-7F0D-6001-BBDA-1C1AF55BDEB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28587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First name Surname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ADAF9B2C-8583-6129-0978-4CC7CC294B4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7506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5E0F70B3-FE43-EB4F-1A26-27C37577C87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85714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First name Surname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D8C6563C-12FB-DB8B-2352-BC6B519F354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94633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B4039616-C526-8550-70B5-FB949E59398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284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First name Surname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5175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304700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eben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8130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3ED9C5BA-5AED-43BC-9A9A-FB3281926248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20D1239-AC10-7CF3-7460-F409E82CBCF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35845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First name Surname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63E66951-4F0B-CBC1-A3F3-06E36980367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4923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B22D8516-82BF-C968-B99F-F2C4872608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039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First name Surname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CC380BDB-57AA-395C-97C5-32258AD422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946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AB12B8A9-2E40-004F-7D4B-DC830830213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4936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First name Surname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E8E60EDF-84BC-50DF-DF1D-12535BD165E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44014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271646C3-68B0-05A8-5C65-22D55CE4808F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27079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First name Surname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EC544524-67DF-E44E-A80D-DEF20D907A8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6987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E052A1FF-3C1D-18C9-FF8C-91D41AD5E46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225342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First name Surname</a:t>
            </a:r>
          </a:p>
        </p:txBody>
      </p:sp>
      <p:sp>
        <p:nvSpPr>
          <p:cNvPr id="31" name="Bildplatzhalter 4">
            <a:extLst>
              <a:ext uri="{FF2B5EF4-FFF2-40B4-BE49-F238E27FC236}">
                <a16:creationId xmlns:a16="http://schemas.microsoft.com/office/drawing/2014/main" id="{CA8F6A59-A25E-5F43-6AC1-01A66F711A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224420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704FB434-2B9A-C168-61EC-9AE6DBA6CE7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17988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First name Surname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1D1811AD-FBE2-BBD0-4B34-A096DE429FE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7896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181047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4ECD36C8-6692-4A3B-AF59-90068E97C16E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9875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87440" y="1088740"/>
            <a:ext cx="5734685" cy="4287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987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First name Surname</a:t>
            </a:r>
            <a:br>
              <a:rPr lang="en-GB" noProof="0"/>
            </a:br>
            <a:r>
              <a:rPr lang="en-GB" noProof="0"/>
              <a:t>Position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241952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41952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First name Surname</a:t>
            </a:r>
            <a:br>
              <a:rPr lang="en-GB" noProof="0"/>
            </a:br>
            <a:r>
              <a:rPr lang="en-GB" noProof="0"/>
              <a:t>Position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16411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16411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First name Surname</a:t>
            </a:r>
            <a:br>
              <a:rPr lang="en-GB" noProof="0"/>
            </a:br>
            <a:r>
              <a:rPr lang="en-GB" noProof="0"/>
              <a:t>Position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241952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16411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4033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First name Surname</a:t>
            </a:r>
            <a:br>
              <a:rPr lang="en-GB" noProof="0"/>
            </a:br>
            <a:r>
              <a:rPr lang="en-GB" noProof="0"/>
              <a:t>Position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41952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First name Surname</a:t>
            </a:r>
            <a:br>
              <a:rPr lang="en-GB" noProof="0"/>
            </a:br>
            <a:r>
              <a:rPr lang="en-GB" noProof="0"/>
              <a:t>Position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16411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First name Surname</a:t>
            </a:r>
            <a:br>
              <a:rPr lang="en-GB" noProof="0"/>
            </a:br>
            <a:r>
              <a:rPr lang="en-GB" noProof="0"/>
              <a:t>Position</a:t>
            </a:r>
          </a:p>
        </p:txBody>
      </p:sp>
      <p:sp>
        <p:nvSpPr>
          <p:cNvPr id="28" name="Textplatzhalter 7">
            <a:extLst>
              <a:ext uri="{FF2B5EF4-FFF2-40B4-BE49-F238E27FC236}">
                <a16:creationId xmlns:a16="http://schemas.microsoft.com/office/drawing/2014/main" id="{31240D61-DAE3-BD06-237A-C12594445A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0869" y="5508398"/>
            <a:ext cx="5734685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41726659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o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2470702A-C9B2-4860-8B3C-A907C6233FF6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2789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1088740"/>
            <a:ext cx="5734685" cy="496916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2789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54866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866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129325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2932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82789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54866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129325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6947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54866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29325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762027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A814411A-45D1-40D1-847C-9669B869F877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866775"/>
            <a:ext cx="7688373" cy="536257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FFC20296-E86A-3879-BD39-9F30E331947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48638" y="866775"/>
            <a:ext cx="3768835" cy="18715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64B2AD41-4DD5-6051-D34F-CA90E2343F5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48638" y="2938463"/>
            <a:ext cx="3768835" cy="2938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D10D92F6-CEED-9778-52E5-5789FA1E21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000" y="6013950"/>
            <a:ext cx="3768835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Quelle </a:t>
            </a:r>
            <a:r>
              <a:rPr lang="en-GB" noProof="0" err="1"/>
              <a:t>hinzufügen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930016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Texte mit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F7165B26-D0E7-45C6-8559-103B96E0CE32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56522" y="876298"/>
            <a:ext cx="3765601" cy="5353052"/>
          </a:xfrm>
          <a:noFill/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87629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64747F6A-D136-3EFB-6E19-6A385022B99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13200" y="876298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B3A42B55-571E-7D35-8A1D-2EE06F2B25D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71068" y="2764546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45D49E17-FFEA-350F-4AF4-82760A288C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14391" y="2764545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" name="Inhaltsplatzhalter 10">
            <a:extLst>
              <a:ext uri="{FF2B5EF4-FFF2-40B4-BE49-F238E27FC236}">
                <a16:creationId xmlns:a16="http://schemas.microsoft.com/office/drawing/2014/main" id="{02C0735D-E433-CC9E-BA2C-CE7019E863A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67953" y="4647380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4" name="Inhaltsplatzhalter 10">
            <a:extLst>
              <a:ext uri="{FF2B5EF4-FFF2-40B4-BE49-F238E27FC236}">
                <a16:creationId xmlns:a16="http://schemas.microsoft.com/office/drawing/2014/main" id="{57EE092B-F3B3-A0AB-6AF8-3C6F1603246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211276" y="464737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6602253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ün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2" y="244800"/>
            <a:ext cx="5760000" cy="1005258"/>
          </a:xfrm>
        </p:spPr>
        <p:txBody>
          <a:bodyPr/>
          <a:lstStyle/>
          <a:p>
            <a:r>
              <a:rPr lang="en-GB" noProof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71872B78-8581-4912-BA0F-1C6D591F65FF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264568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6BDEB48F-A5F4-E47E-A6CF-964F1398E89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9875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4D8633B6-F883-1298-E515-91B31B28E3A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4840288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0ED7E5AD-E183-82CD-F090-884A82A4B96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80532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560DE703-9043-4D96-9589-6AB1C926574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80532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5B7962-C9CE-24B7-343C-9D504EEF1ADA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2264568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DFF4B996-5BF2-362E-6F3C-0472752C4919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264568" y="4840288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23CD5622-E8DA-D57A-1F36-A80A2A8ACA69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8184232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0987D4F-9295-E825-B64B-CE16F9CC37E4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8184232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3898624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n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5760000" cy="1005258"/>
          </a:xfrm>
        </p:spPr>
        <p:txBody>
          <a:bodyPr/>
          <a:lstStyle/>
          <a:p>
            <a:r>
              <a:rPr lang="en-GB" noProof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281737CF-8F93-45D3-893D-73CFB042EFB1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254919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622633EA-CE0F-D311-E9F8-E4FF04D03BC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69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2222D7F-5144-753F-7AF0-A8D709992A99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1254919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03285094-5EB7-BA03-462D-65224736565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69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2C14EDF-15BE-41CE-9D5E-3D50F6B67AB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1254919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DAC93A43-12FF-3F6B-DA7A-A04D2ECA735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022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696B000-854E-5397-BD25-46F024ACF0B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5195900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55C6D27-9F7F-A193-A31F-2412FB8334A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2022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80A26B48-243C-9DD6-BDC2-FE40212B1AAE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5195900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0E647CD5-DA5F-6055-1889-45FC8EA8E3A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022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A660F0-3C7A-4C52-196B-D1FC1C4E12F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5195900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9AE88E45-2228-3BAB-B328-25AE00C869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148811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8D6A0681-D929-2BA4-D3F8-B3541A94FD81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9136793" y="1586260"/>
            <a:ext cx="2785331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34" name="Bildplatzhalter 4">
            <a:extLst>
              <a:ext uri="{FF2B5EF4-FFF2-40B4-BE49-F238E27FC236}">
                <a16:creationId xmlns:a16="http://schemas.microsoft.com/office/drawing/2014/main" id="{8D809E36-7256-6CC2-0F4B-23E42C6B142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148811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8DEA4B-FE27-8A9E-FBBB-04944A377343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9136794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5AC54CE7-1DE9-FCC9-D36F-326C1CC978F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48811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FFA07EE-B7CC-6673-18A8-938F608DD842}"/>
              </a:ext>
            </a:extLst>
          </p:cNvPr>
          <p:cNvSpPr>
            <a:spLocks noGrp="1"/>
          </p:cNvSpPr>
          <p:nvPr>
            <p:ph idx="41" hasCustomPrompt="1"/>
          </p:nvPr>
        </p:nvSpPr>
        <p:spPr>
          <a:xfrm>
            <a:off x="9136794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0039452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el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D364BFF4-CB62-460B-A7FD-029BF9AAE804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Footer (Edit via "Insert &gt; Header and Footer")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1" name="Inhaltsplatzhalter 30">
            <a:extLst>
              <a:ext uri="{FF2B5EF4-FFF2-40B4-BE49-F238E27FC236}">
                <a16:creationId xmlns:a16="http://schemas.microsoft.com/office/drawing/2014/main" id="{1FE9EFCD-7C86-A7FC-7CBA-C2A928454C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1463" y="878400"/>
            <a:ext cx="286206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2" name="Inhaltsplatzhalter 30">
            <a:extLst>
              <a:ext uri="{FF2B5EF4-FFF2-40B4-BE49-F238E27FC236}">
                <a16:creationId xmlns:a16="http://schemas.microsoft.com/office/drawing/2014/main" id="{B5AF2636-78AA-31AE-B767-CD1ED9E3083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31605" y="878400"/>
            <a:ext cx="2962866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3" name="Inhaltsplatzhalter 30">
            <a:extLst>
              <a:ext uri="{FF2B5EF4-FFF2-40B4-BE49-F238E27FC236}">
                <a16:creationId xmlns:a16="http://schemas.microsoft.com/office/drawing/2014/main" id="{8CD2FE50-AB2F-83AF-8B23-1260D26EF81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02458" y="878400"/>
            <a:ext cx="2948569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4" name="Inhaltsplatzhalter 30">
            <a:extLst>
              <a:ext uri="{FF2B5EF4-FFF2-40B4-BE49-F238E27FC236}">
                <a16:creationId xmlns:a16="http://schemas.microsoft.com/office/drawing/2014/main" id="{156B3F99-D56F-6D47-0C38-55E1C209F59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056315" y="878400"/>
            <a:ext cx="286142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5" name="Inhaltsplatzhalter 30">
            <a:extLst>
              <a:ext uri="{FF2B5EF4-FFF2-40B4-BE49-F238E27FC236}">
                <a16:creationId xmlns:a16="http://schemas.microsoft.com/office/drawing/2014/main" id="{61CB84E3-822D-E7BF-88FA-B6CD8499742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1463" y="4942799"/>
            <a:ext cx="286206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6" name="Inhaltsplatzhalter 30">
            <a:extLst>
              <a:ext uri="{FF2B5EF4-FFF2-40B4-BE49-F238E27FC236}">
                <a16:creationId xmlns:a16="http://schemas.microsoft.com/office/drawing/2014/main" id="{4BBD1101-501F-08B4-863D-4EC398FF4C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131605" y="3577319"/>
            <a:ext cx="2962866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7" name="Inhaltsplatzhalter 30">
            <a:extLst>
              <a:ext uri="{FF2B5EF4-FFF2-40B4-BE49-F238E27FC236}">
                <a16:creationId xmlns:a16="http://schemas.microsoft.com/office/drawing/2014/main" id="{799F2A81-65B3-AA66-95A8-AD7674ADA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02458" y="3577319"/>
            <a:ext cx="2948569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8" name="Inhaltsplatzhalter 30">
            <a:extLst>
              <a:ext uri="{FF2B5EF4-FFF2-40B4-BE49-F238E27FC236}">
                <a16:creationId xmlns:a16="http://schemas.microsoft.com/office/drawing/2014/main" id="{CD8C8901-62AC-56A4-B429-1C6C564195B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056315" y="4942798"/>
            <a:ext cx="286142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9" name="Inhaltsplatzhalter 30">
            <a:extLst>
              <a:ext uri="{FF2B5EF4-FFF2-40B4-BE49-F238E27FC236}">
                <a16:creationId xmlns:a16="http://schemas.microsoft.com/office/drawing/2014/main" id="{FC91EDA6-5E9C-6D6C-EF9F-C7F0B68C4C0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1463" y="3577319"/>
            <a:ext cx="2862063" cy="1361404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50" name="Inhaltsplatzhalter 30">
            <a:extLst>
              <a:ext uri="{FF2B5EF4-FFF2-40B4-BE49-F238E27FC236}">
                <a16:creationId xmlns:a16="http://schemas.microsoft.com/office/drawing/2014/main" id="{51E99161-B839-91BE-206F-89792AD5F92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56315" y="3577319"/>
            <a:ext cx="2861423" cy="136080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3108543402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4" y="244800"/>
            <a:ext cx="3762090" cy="1005258"/>
          </a:xfrm>
        </p:spPr>
        <p:txBody>
          <a:bodyPr/>
          <a:lstStyle/>
          <a:p>
            <a:r>
              <a:rPr lang="en-GB" noProof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7893DB96-315B-4AA8-A4DA-A62A76E1325B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1371601"/>
            <a:ext cx="3765600" cy="15173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E8901B72-CDFB-6B04-2999-9B4D3BECDE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22638" y="273051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6" name="Inhaltsplatzhalter 10">
            <a:extLst>
              <a:ext uri="{FF2B5EF4-FFF2-40B4-BE49-F238E27FC236}">
                <a16:creationId xmlns:a16="http://schemas.microsoft.com/office/drawing/2014/main" id="{5F7462AF-9418-FBED-AE2B-9097CD9893A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22638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3722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BE5D1B04-2BFA-33F3-C355-D8EB9E6F77DC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93722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8823469C-27C8-EF8F-4CC9-197675E31FB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64806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0" name="Inhaltsplatzhalter 10">
            <a:extLst>
              <a:ext uri="{FF2B5EF4-FFF2-40B4-BE49-F238E27FC236}">
                <a16:creationId xmlns:a16="http://schemas.microsoft.com/office/drawing/2014/main" id="{887C4011-3849-0B28-B9C6-CD6CCD2774AC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164806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CBEDB122-E4B4-DEAF-0C6D-61CF1C399FB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135890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2E8C9BDD-A256-932A-0451-8742BDF218CD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135890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648AA9A-5221-27F9-3191-6F0F1FEAF36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220167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4" name="Inhaltsplatzhalter 10">
            <a:extLst>
              <a:ext uri="{FF2B5EF4-FFF2-40B4-BE49-F238E27FC236}">
                <a16:creationId xmlns:a16="http://schemas.microsoft.com/office/drawing/2014/main" id="{92E2526C-7EE2-C9B9-E09C-E4124FE41C3A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220167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6836661A-7952-7ADE-BB22-08BB2B174D2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91251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C2CB294D-1078-8674-FF02-6A8C1FA8750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191251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28" name="Bildplatzhalter 4">
            <a:extLst>
              <a:ext uri="{FF2B5EF4-FFF2-40B4-BE49-F238E27FC236}">
                <a16:creationId xmlns:a16="http://schemas.microsoft.com/office/drawing/2014/main" id="{478A5169-5857-1B03-543A-A692CECD282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62335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CCD55740-F556-6FFB-54B7-F02F33DD446D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62335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C3C4A300-9C66-727B-BF1B-3FE78BA4925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133419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31" name="Inhaltsplatzhalter 10">
            <a:extLst>
              <a:ext uri="{FF2B5EF4-FFF2-40B4-BE49-F238E27FC236}">
                <a16:creationId xmlns:a16="http://schemas.microsoft.com/office/drawing/2014/main" id="{A1A5D7D5-55B1-516C-7CED-BF26C79BE6B2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0133419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F4A6E408-2281-5C5F-C17D-009678C7B29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21998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37" name="Inhaltsplatzhalter 10">
            <a:extLst>
              <a:ext uri="{FF2B5EF4-FFF2-40B4-BE49-F238E27FC236}">
                <a16:creationId xmlns:a16="http://schemas.microsoft.com/office/drawing/2014/main" id="{106AA095-B514-8CB2-E655-796D9234A496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21998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B22E5E6F-159C-366B-5296-441253F3F0B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191065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39" name="Inhaltsplatzhalter 10">
            <a:extLst>
              <a:ext uri="{FF2B5EF4-FFF2-40B4-BE49-F238E27FC236}">
                <a16:creationId xmlns:a16="http://schemas.microsoft.com/office/drawing/2014/main" id="{8F99875B-FC4F-7DCE-AACD-FF783DF1F8CC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6191065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86D99F31-E97B-1DE8-80A6-FCE2268D750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62149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41" name="Inhaltsplatzhalter 10">
            <a:extLst>
              <a:ext uri="{FF2B5EF4-FFF2-40B4-BE49-F238E27FC236}">
                <a16:creationId xmlns:a16="http://schemas.microsoft.com/office/drawing/2014/main" id="{2AFB99F6-8B03-8325-85FE-ACF55FEF4C7E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162149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2" name="Bildplatzhalter 4">
            <a:extLst>
              <a:ext uri="{FF2B5EF4-FFF2-40B4-BE49-F238E27FC236}">
                <a16:creationId xmlns:a16="http://schemas.microsoft.com/office/drawing/2014/main" id="{7B354065-93C3-8CD0-C6F7-EAD8915CFD2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133233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43" name="Inhaltsplatzhalter 10">
            <a:extLst>
              <a:ext uri="{FF2B5EF4-FFF2-40B4-BE49-F238E27FC236}">
                <a16:creationId xmlns:a16="http://schemas.microsoft.com/office/drawing/2014/main" id="{D9B63D01-B563-7751-25F8-D9E1385E66D2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10133233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4" name="Bildplatzhalter 4">
            <a:extLst>
              <a:ext uri="{FF2B5EF4-FFF2-40B4-BE49-F238E27FC236}">
                <a16:creationId xmlns:a16="http://schemas.microsoft.com/office/drawing/2014/main" id="{3561E328-70B6-85DB-D07B-4E3133D9FE77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224785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45" name="Inhaltsplatzhalter 10">
            <a:extLst>
              <a:ext uri="{FF2B5EF4-FFF2-40B4-BE49-F238E27FC236}">
                <a16:creationId xmlns:a16="http://schemas.microsoft.com/office/drawing/2014/main" id="{818DEC37-95E8-080D-AB4D-58F52BC284EC}"/>
              </a:ext>
            </a:extLst>
          </p:cNvPr>
          <p:cNvSpPr>
            <a:spLocks noGrp="1"/>
          </p:cNvSpPr>
          <p:nvPr>
            <p:ph sz="quarter" idx="48" hasCustomPrompt="1"/>
          </p:nvPr>
        </p:nvSpPr>
        <p:spPr>
          <a:xfrm>
            <a:off x="224785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4116460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strah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536400"/>
          </a:xfrm>
        </p:spPr>
        <p:txBody>
          <a:bodyPr/>
          <a:lstStyle/>
          <a:p>
            <a:r>
              <a:rPr lang="en-GB" noProof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6C66F239-114E-41F3-ADA1-C32B874D6A23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960DD06-5403-402D-6C88-53DCD45F16E1}"/>
              </a:ext>
            </a:extLst>
          </p:cNvPr>
          <p:cNvCxnSpPr/>
          <p:nvPr userDrawn="1"/>
        </p:nvCxnSpPr>
        <p:spPr>
          <a:xfrm>
            <a:off x="269875" y="3497585"/>
            <a:ext cx="1165225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Bildplatzhalter 4">
            <a:extLst>
              <a:ext uri="{FF2B5EF4-FFF2-40B4-BE49-F238E27FC236}">
                <a16:creationId xmlns:a16="http://schemas.microsoft.com/office/drawing/2014/main" id="{F49F2DB0-AB5C-6BD8-064D-373B4B1209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16" name="Bildplatzhalter 4">
            <a:extLst>
              <a:ext uri="{FF2B5EF4-FFF2-40B4-BE49-F238E27FC236}">
                <a16:creationId xmlns:a16="http://schemas.microsoft.com/office/drawing/2014/main" id="{F0B6A180-6984-B9E7-7ADC-A121B77988B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97400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17" name="Bildplatzhalter 4">
            <a:extLst>
              <a:ext uri="{FF2B5EF4-FFF2-40B4-BE49-F238E27FC236}">
                <a16:creationId xmlns:a16="http://schemas.microsoft.com/office/drawing/2014/main" id="{38372887-04E8-C5D5-EF4C-1E25A260FB2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67159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18" name="Bildplatzhalter 4">
            <a:extLst>
              <a:ext uri="{FF2B5EF4-FFF2-40B4-BE49-F238E27FC236}">
                <a16:creationId xmlns:a16="http://schemas.microsoft.com/office/drawing/2014/main" id="{7A14FB65-6B89-A9C8-8DB1-7B1F7CBFAEC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36031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19" name="Bildplatzhalter 4">
            <a:extLst>
              <a:ext uri="{FF2B5EF4-FFF2-40B4-BE49-F238E27FC236}">
                <a16:creationId xmlns:a16="http://schemas.microsoft.com/office/drawing/2014/main" id="{CD8F59A9-69CA-1C2A-33D7-AD0BB64181B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053471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20" name="Bildplatzhalter 4">
            <a:extLst>
              <a:ext uri="{FF2B5EF4-FFF2-40B4-BE49-F238E27FC236}">
                <a16:creationId xmlns:a16="http://schemas.microsoft.com/office/drawing/2014/main" id="{B582FB2A-C51D-65C1-0203-3A5AB4DB0F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46627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21" name="Bildplatzhalter 4">
            <a:extLst>
              <a:ext uri="{FF2B5EF4-FFF2-40B4-BE49-F238E27FC236}">
                <a16:creationId xmlns:a16="http://schemas.microsoft.com/office/drawing/2014/main" id="{18F14028-DA69-147A-C414-9146D8EAE5F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43978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22" name="Bildplatzhalter 4">
            <a:extLst>
              <a:ext uri="{FF2B5EF4-FFF2-40B4-BE49-F238E27FC236}">
                <a16:creationId xmlns:a16="http://schemas.microsoft.com/office/drawing/2014/main" id="{3A11402F-1392-D5B0-DE17-2E270C800CA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36079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23" name="Bildplatzhalter 4">
            <a:extLst>
              <a:ext uri="{FF2B5EF4-FFF2-40B4-BE49-F238E27FC236}">
                <a16:creationId xmlns:a16="http://schemas.microsoft.com/office/drawing/2014/main" id="{92F84F7D-2669-46EA-F7E5-F5A3AE35C50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2900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24" name="Bildplatzhalter 4">
            <a:extLst>
              <a:ext uri="{FF2B5EF4-FFF2-40B4-BE49-F238E27FC236}">
                <a16:creationId xmlns:a16="http://schemas.microsoft.com/office/drawing/2014/main" id="{7F4B621D-593C-EF66-AAA8-260F24BB816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21933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25" name="Bildplatzhalter 4">
            <a:extLst>
              <a:ext uri="{FF2B5EF4-FFF2-40B4-BE49-F238E27FC236}">
                <a16:creationId xmlns:a16="http://schemas.microsoft.com/office/drawing/2014/main" id="{EAB29708-5948-93D3-1DAE-9AA4E5A03DC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14860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26" name="Bildplatzhalter 4">
            <a:extLst>
              <a:ext uri="{FF2B5EF4-FFF2-40B4-BE49-F238E27FC236}">
                <a16:creationId xmlns:a16="http://schemas.microsoft.com/office/drawing/2014/main" id="{6590CFDF-AA3F-86A0-462A-8B00EDC3EDD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907787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27" name="Bildplatzhalter 4">
            <a:extLst>
              <a:ext uri="{FF2B5EF4-FFF2-40B4-BE49-F238E27FC236}">
                <a16:creationId xmlns:a16="http://schemas.microsoft.com/office/drawing/2014/main" id="{F8D57941-57A2-78B6-C142-19F25D64A5F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0071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28" name="Inhaltsplatzhalter 10">
            <a:extLst>
              <a:ext uri="{FF2B5EF4-FFF2-40B4-BE49-F238E27FC236}">
                <a16:creationId xmlns:a16="http://schemas.microsoft.com/office/drawing/2014/main" id="{84D95677-0114-3854-2A06-CDDFDD44077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6987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29" name="Inhaltsplatzhalter 10">
            <a:extLst>
              <a:ext uri="{FF2B5EF4-FFF2-40B4-BE49-F238E27FC236}">
                <a16:creationId xmlns:a16="http://schemas.microsoft.com/office/drawing/2014/main" id="{830824E2-E1B0-01AE-F199-E13B717EE78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197400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0" name="Inhaltsplatzhalter 10">
            <a:extLst>
              <a:ext uri="{FF2B5EF4-FFF2-40B4-BE49-F238E27FC236}">
                <a16:creationId xmlns:a16="http://schemas.microsoft.com/office/drawing/2014/main" id="{B661178F-E8BD-64EC-8DCE-B999B4D9EAB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667159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1" name="Inhaltsplatzhalter 10">
            <a:extLst>
              <a:ext uri="{FF2B5EF4-FFF2-40B4-BE49-F238E27FC236}">
                <a16:creationId xmlns:a16="http://schemas.microsoft.com/office/drawing/2014/main" id="{A0685B94-A30D-8020-BFC0-B77022CBDE9F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36031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2" name="Inhaltsplatzhalter 10">
            <a:extLst>
              <a:ext uri="{FF2B5EF4-FFF2-40B4-BE49-F238E27FC236}">
                <a16:creationId xmlns:a16="http://schemas.microsoft.com/office/drawing/2014/main" id="{7FB39B7C-36A1-9048-02BA-E03566F2EB1F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053471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3" name="Inhaltsplatzhalter 10">
            <a:extLst>
              <a:ext uri="{FF2B5EF4-FFF2-40B4-BE49-F238E27FC236}">
                <a16:creationId xmlns:a16="http://schemas.microsoft.com/office/drawing/2014/main" id="{15CACBB6-4692-7C6A-8251-BEBD135224A0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746627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4" name="Inhaltsplatzhalter 10">
            <a:extLst>
              <a:ext uri="{FF2B5EF4-FFF2-40B4-BE49-F238E27FC236}">
                <a16:creationId xmlns:a16="http://schemas.microsoft.com/office/drawing/2014/main" id="{BECB31F3-1FF3-7738-D3E5-314BB6A831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043978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5" name="Inhaltsplatzhalter 10">
            <a:extLst>
              <a:ext uri="{FF2B5EF4-FFF2-40B4-BE49-F238E27FC236}">
                <a16:creationId xmlns:a16="http://schemas.microsoft.com/office/drawing/2014/main" id="{62AF25DC-CA5E-4417-22E5-A964FF016F62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136079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6" name="Inhaltsplatzhalter 10">
            <a:extLst>
              <a:ext uri="{FF2B5EF4-FFF2-40B4-BE49-F238E27FC236}">
                <a16:creationId xmlns:a16="http://schemas.microsoft.com/office/drawing/2014/main" id="{90D56CD7-60EE-495F-ED4B-C31A87C45E84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82900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7" name="Inhaltsplatzhalter 10">
            <a:extLst>
              <a:ext uri="{FF2B5EF4-FFF2-40B4-BE49-F238E27FC236}">
                <a16:creationId xmlns:a16="http://schemas.microsoft.com/office/drawing/2014/main" id="{28B0CB76-6D72-3E2E-056B-27DB3947102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4521933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8" name="Inhaltsplatzhalter 10">
            <a:extLst>
              <a:ext uri="{FF2B5EF4-FFF2-40B4-BE49-F238E27FC236}">
                <a16:creationId xmlns:a16="http://schemas.microsoft.com/office/drawing/2014/main" id="{57BA3158-F345-F5B5-83D3-6B1D5546CF2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6214860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9" name="Inhaltsplatzhalter 10">
            <a:extLst>
              <a:ext uri="{FF2B5EF4-FFF2-40B4-BE49-F238E27FC236}">
                <a16:creationId xmlns:a16="http://schemas.microsoft.com/office/drawing/2014/main" id="{FC40280B-F0D4-264E-C17E-3D2B98F5645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7907787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40" name="Inhaltsplatzhalter 10">
            <a:extLst>
              <a:ext uri="{FF2B5EF4-FFF2-40B4-BE49-F238E27FC236}">
                <a16:creationId xmlns:a16="http://schemas.microsoft.com/office/drawing/2014/main" id="{4B3C570F-341A-24E7-0226-5D3A693E9D76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960071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5372604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C6467BEA-AF39-4053-8C8B-8653C5BC591E}" type="datetime1">
              <a:rPr lang="de-CH" noProof="0" smtClean="0"/>
              <a:t>30.09.2026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2773539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3EBFA33-E838-4FF1-1D0F-2B8F723A98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5EDFDEC-7873-15BD-1B6F-5DAEB075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28398" y="6424761"/>
            <a:ext cx="1189348" cy="14401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BD07B5-74CD-47EC-B72A-E80BB2270DE0}" type="datetime1">
              <a:rPr lang="en-GB" noProof="0" smtClean="0"/>
              <a:t>30/09/2026</a:t>
            </a:fld>
            <a:r>
              <a:rPr lang="en-GB" noProof="0"/>
              <a:t>    |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04195A-F200-70E1-095F-04D38F55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Footer (Edit via "Insert &gt; Header and Footer")</a:t>
            </a:r>
            <a:endParaRPr lang="en-GB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3564CC-433E-0F7E-78ED-4CBD5802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3325" y="6424761"/>
            <a:ext cx="208800" cy="14401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3F26200-5089-80AE-C07E-2ADBBFCB862E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795B1871-CB5E-1539-590E-A27B00A5B3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372" y="6448574"/>
            <a:ext cx="1141200" cy="1368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 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F7249099-EAE8-15A9-5DD9-4B8BD6C113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8" name="Textplatzhalter 27">
            <a:extLst>
              <a:ext uri="{FF2B5EF4-FFF2-40B4-BE49-F238E27FC236}">
                <a16:creationId xmlns:a16="http://schemas.microsoft.com/office/drawing/2014/main" id="{9EB74D43-ABA5-E11E-DD85-85CF51186C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0670" y="27276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10" name="Textplatzhalter 27">
            <a:extLst>
              <a:ext uri="{FF2B5EF4-FFF2-40B4-BE49-F238E27FC236}">
                <a16:creationId xmlns:a16="http://schemas.microsoft.com/office/drawing/2014/main" id="{048FC5CC-2121-56F3-C3F5-B5C874FFB1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18265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11" name="Textplatzhalter 27">
            <a:extLst>
              <a:ext uri="{FF2B5EF4-FFF2-40B4-BE49-F238E27FC236}">
                <a16:creationId xmlns:a16="http://schemas.microsoft.com/office/drawing/2014/main" id="{BB0B7B4E-7C57-28E9-4CB9-B4570ABC59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0960" y="18217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14" name="Textplatzhalter 27">
            <a:extLst>
              <a:ext uri="{FF2B5EF4-FFF2-40B4-BE49-F238E27FC236}">
                <a16:creationId xmlns:a16="http://schemas.microsoft.com/office/drawing/2014/main" id="{A8FF8281-AD66-C77E-347B-07E4F503BA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273236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40" name="Textplatzhalter 27">
            <a:extLst>
              <a:ext uri="{FF2B5EF4-FFF2-40B4-BE49-F238E27FC236}">
                <a16:creationId xmlns:a16="http://schemas.microsoft.com/office/drawing/2014/main" id="{55EE194A-C397-2617-7780-D86A48CAE74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5974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DBF35E7F-D953-CAA9-3A99-15E4880E3A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2311" y="27420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692AC1F8-AB87-40B3-4118-64C6B6A63F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95128" y="460862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51" name="Textplatzhalter 27">
            <a:extLst>
              <a:ext uri="{FF2B5EF4-FFF2-40B4-BE49-F238E27FC236}">
                <a16:creationId xmlns:a16="http://schemas.microsoft.com/office/drawing/2014/main" id="{8B875A59-87E2-329A-FECC-BEA7FE43BA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2838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52" name="Textplatzhalter 27">
            <a:extLst>
              <a:ext uri="{FF2B5EF4-FFF2-40B4-BE49-F238E27FC236}">
                <a16:creationId xmlns:a16="http://schemas.microsoft.com/office/drawing/2014/main" id="{69DCED49-C168-77C0-6547-0CADBD71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3128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53" name="Textplatzhalter 27">
            <a:extLst>
              <a:ext uri="{FF2B5EF4-FFF2-40B4-BE49-F238E27FC236}">
                <a16:creationId xmlns:a16="http://schemas.microsoft.com/office/drawing/2014/main" id="{E691F604-DB24-E1B1-CD8D-23BFFC1444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6264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54" name="Textplatzhalter 27">
            <a:extLst>
              <a:ext uri="{FF2B5EF4-FFF2-40B4-BE49-F238E27FC236}">
                <a16:creationId xmlns:a16="http://schemas.microsoft.com/office/drawing/2014/main" id="{48B584AC-71CB-16D8-E722-8AC5553FE59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92602" y="183617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55" name="Textplatzhalter 27">
            <a:extLst>
              <a:ext uri="{FF2B5EF4-FFF2-40B4-BE49-F238E27FC236}">
                <a16:creationId xmlns:a16="http://schemas.microsoft.com/office/drawing/2014/main" id="{64EFC00D-C82F-63F3-901A-E32AA5563D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95418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56" name="Textplatzhalter 27">
            <a:extLst>
              <a:ext uri="{FF2B5EF4-FFF2-40B4-BE49-F238E27FC236}">
                <a16:creationId xmlns:a16="http://schemas.microsoft.com/office/drawing/2014/main" id="{2F484B0C-2F5D-4A41-8BBA-C15A9F143EB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50114" y="1831417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57" name="Textplatzhalter 27">
            <a:extLst>
              <a:ext uri="{FF2B5EF4-FFF2-40B4-BE49-F238E27FC236}">
                <a16:creationId xmlns:a16="http://schemas.microsoft.com/office/drawing/2014/main" id="{4885B59F-449F-B852-F442-3B1C68A2AA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9824" y="273724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58" name="Textplatzhalter 27">
            <a:extLst>
              <a:ext uri="{FF2B5EF4-FFF2-40B4-BE49-F238E27FC236}">
                <a16:creationId xmlns:a16="http://schemas.microsoft.com/office/drawing/2014/main" id="{AA5DC075-9286-B8C4-CD9F-B561C39392C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282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59" name="Textplatzhalter 27">
            <a:extLst>
              <a:ext uri="{FF2B5EF4-FFF2-40B4-BE49-F238E27FC236}">
                <a16:creationId xmlns:a16="http://schemas.microsoft.com/office/drawing/2014/main" id="{2B7C5942-88D4-4AE4-D493-E6EB256531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51992" y="460862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4093960694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4754300B-5269-490A-96A1-03AC057EC226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AAED8CC9-45E8-1A12-FE4B-99B48514CF4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31317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0E65F99-D41E-97A8-5B90-921DFF4F75C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91174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2B30555-3BA5-1953-D982-C69CB839D8F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151032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B4DAEC7F-9097-CC65-18FC-ABDF8656180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9151031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99A24F7-6F45-D408-172F-9FCB5D02667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91174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F564AFF4-7AFB-5D44-CE32-7B8A59C9117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231317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1460" y="1371600"/>
            <a:ext cx="2775600" cy="1716981"/>
          </a:xfrm>
        </p:spPr>
        <p:txBody>
          <a:bodyPr/>
          <a:lstStyle>
            <a:lvl1pPr>
              <a:tabLst>
                <a:tab pos="1704975" algn="l"/>
              </a:tabLst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3E32DEA9-77CE-B434-4A3D-3AAB04FD78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000" y="6019388"/>
            <a:ext cx="5736917" cy="205200"/>
          </a:xfrm>
        </p:spPr>
        <p:txBody>
          <a:bodyPr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2220080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FFD4C537-AB5E-47C4-AB3E-3777FE214FF5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0582" y="2700000"/>
            <a:ext cx="2778003" cy="3524588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/>
              <a:t>Contact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08ED976-BD70-59ED-B970-3FA256DEEE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DADD2F24-DA82-E6C1-DFC7-E7D6DA1F104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276512" y="1389564"/>
            <a:ext cx="856800" cy="856800"/>
          </a:xfrm>
        </p:spPr>
        <p:txBody>
          <a:bodyPr anchor="ctr"/>
          <a:lstStyle>
            <a:lvl1pPr algn="ctr">
              <a:tabLst>
                <a:tab pos="1704975" algn="l"/>
              </a:tabLst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QR-Code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8FD34BD-5602-5735-423C-351E3E46BFED}"/>
              </a:ext>
            </a:extLst>
          </p:cNvPr>
          <p:cNvCxnSpPr>
            <a:cxnSpLocks/>
          </p:cNvCxnSpPr>
          <p:nvPr userDrawn="1"/>
        </p:nvCxnSpPr>
        <p:spPr>
          <a:xfrm>
            <a:off x="270582" y="2492896"/>
            <a:ext cx="27780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5847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AB22F66A-66E1-4C97-A693-2A7CC6DC44C1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/>
          <a:p>
            <a:fld id="{A366CB46-63BD-4B03-B625-BCA1E3E3FF3C}" type="datetime1">
              <a:rPr lang="en-GB" noProof="0" smtClean="0"/>
              <a:t>30/09/2026</a:t>
            </a:fld>
            <a:endParaRPr lang="en-GB" noProof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Footer (Edit via "Insert &gt; Header and Footer")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Click</a:t>
            </a:r>
            <a:r>
              <a:rPr lang="de-DE"/>
              <a:t> to </a:t>
            </a:r>
            <a:r>
              <a:rPr lang="de-DE" err="1"/>
              <a:t>edit</a:t>
            </a:r>
            <a:r>
              <a:rPr lang="de-DE"/>
              <a:t>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Click to edit Master text styles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28.02.18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9648395" y="6524627"/>
            <a:ext cx="2400267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EFAA0-17EE-4140-9FDC-763EA757AC07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9758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71463" y="244800"/>
            <a:ext cx="11650662" cy="6259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/>
              <a:t>Insert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71461" y="870744"/>
            <a:ext cx="11650663" cy="5353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C703539-8E35-D069-DBD5-3A4DCC125A4D}"/>
              </a:ext>
            </a:extLst>
          </p:cNvPr>
          <p:cNvSpPr txBox="1"/>
          <p:nvPr userDrawn="1"/>
        </p:nvSpPr>
        <p:spPr>
          <a:xfrm rot="5400000">
            <a:off x="11394044" y="5941110"/>
            <a:ext cx="1753783" cy="61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CH" sz="400" spc="40" baseline="0" noProof="0">
                <a:solidFill>
                  <a:schemeClr val="bg1">
                    <a:lumMod val="85000"/>
                  </a:schemeClr>
                </a:solidFill>
              </a:rPr>
              <a:t>Erstellt durch Vorlagenbauer.ch</a:t>
            </a:r>
          </a:p>
        </p:txBody>
      </p:sp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68" r:id="rId2"/>
    <p:sldLayoutId id="2147483666" r:id="rId3"/>
    <p:sldLayoutId id="2147483702" r:id="rId4"/>
    <p:sldLayoutId id="2147483673" r:id="rId5"/>
    <p:sldLayoutId id="2147483683" r:id="rId6"/>
    <p:sldLayoutId id="2147483696" r:id="rId7"/>
    <p:sldLayoutId id="2147483695" r:id="rId8"/>
    <p:sldLayoutId id="2147483659" r:id="rId9"/>
    <p:sldLayoutId id="2147483669" r:id="rId10"/>
    <p:sldLayoutId id="2147483661" r:id="rId11"/>
    <p:sldLayoutId id="2147483674" r:id="rId12"/>
    <p:sldLayoutId id="2147483697" r:id="rId13"/>
    <p:sldLayoutId id="2147483675" r:id="rId14"/>
    <p:sldLayoutId id="2147483698" r:id="rId15"/>
    <p:sldLayoutId id="2147483671" r:id="rId16"/>
    <p:sldLayoutId id="2147483682" r:id="rId17"/>
    <p:sldLayoutId id="2147483684" r:id="rId18"/>
    <p:sldLayoutId id="2147483677" r:id="rId19"/>
    <p:sldLayoutId id="2147483672" r:id="rId20"/>
    <p:sldLayoutId id="2147483679" r:id="rId21"/>
    <p:sldLayoutId id="2147483685" r:id="rId22"/>
    <p:sldLayoutId id="2147483680" r:id="rId23"/>
    <p:sldLayoutId id="2147483681" r:id="rId24"/>
    <p:sldLayoutId id="2147483686" r:id="rId25"/>
    <p:sldLayoutId id="2147483687" r:id="rId26"/>
    <p:sldLayoutId id="2147483691" r:id="rId27"/>
    <p:sldLayoutId id="2147483690" r:id="rId28"/>
    <p:sldLayoutId id="2147483699" r:id="rId29"/>
    <p:sldLayoutId id="2147483688" r:id="rId30"/>
    <p:sldLayoutId id="2147483692" r:id="rId31"/>
    <p:sldLayoutId id="2147483670" r:id="rId32"/>
    <p:sldLayoutId id="2147483700" r:id="rId33"/>
    <p:sldLayoutId id="2147483678" r:id="rId34"/>
    <p:sldLayoutId id="2147483693" r:id="rId35"/>
    <p:sldLayoutId id="2147483663" r:id="rId36"/>
    <p:sldLayoutId id="2147483664" r:id="rId37"/>
    <p:sldLayoutId id="2147483703" r:id="rId38"/>
  </p:sldLayoutIdLst>
  <p:hf hdr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defRPr sz="24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3000"/>
        </a:lnSpc>
        <a:spcBef>
          <a:spcPts val="0"/>
        </a:spcBef>
        <a:buFont typeface="+mj-lt"/>
        <a:buNone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226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8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1090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522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98000"/>
        </a:lnSpc>
        <a:spcBef>
          <a:spcPts val="0"/>
        </a:spcBef>
        <a:buFont typeface="+mj-lt"/>
        <a:buNone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174625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5738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 userDrawn="1">
          <p15:clr>
            <a:srgbClr val="A4A3A4"/>
          </p15:clr>
        </p15:guide>
        <p15:guide id="2" pos="7510" userDrawn="1">
          <p15:clr>
            <a:srgbClr val="A4A3A4"/>
          </p15:clr>
        </p15:guide>
        <p15:guide id="3" orient="horz" pos="3921" userDrawn="1">
          <p15:clr>
            <a:srgbClr val="A4A3A4"/>
          </p15:clr>
        </p15:guide>
        <p15:guide id="4" orient="horz" pos="546" userDrawn="1">
          <p15:clr>
            <a:srgbClr val="A4A3A4"/>
          </p15:clr>
        </p15:guide>
        <p15:guide id="6" orient="horz" pos="172" userDrawn="1">
          <p15:clr>
            <a:srgbClr val="A4A3A4"/>
          </p15:clr>
        </p15:guide>
        <p15:guide id="7" orient="horz" pos="86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8F2E9ED-D9A3-3E95-83DB-4DDCC225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noProof="0"/>
              <a:t>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AC6C720-09ED-5B7D-9311-DEFC1F8A5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/>
              <a:t>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3B0546-3404-FCCD-7325-DD5ADB767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CH" noProof="0"/>
              <a:t> </a:t>
            </a: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D97D1C2-1418-EA65-76B9-30FF79D4BF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Population Research Center (PRC)</a:t>
            </a:r>
          </a:p>
        </p:txBody>
      </p:sp>
      <p:pic>
        <p:nvPicPr>
          <p:cNvPr id="11" name="Picture Placeholder 10" descr="A baby wrapped in a blanket&#10;&#10;AI-generated content may be incorrect.">
            <a:extLst>
              <a:ext uri="{FF2B5EF4-FFF2-40B4-BE49-F238E27FC236}">
                <a16:creationId xmlns:a16="http://schemas.microsoft.com/office/drawing/2014/main" id="{F7C1B313-95EF-BA5F-FCEB-F4CC5169159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77" b="9377"/>
          <a:stretch>
            <a:fillRect/>
          </a:stretch>
        </p:blipFill>
        <p:spPr/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BC23377-90C3-368B-0A70-D0D871F199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3933056"/>
            <a:ext cx="10165526" cy="2253915"/>
          </a:xfrm>
        </p:spPr>
        <p:txBody>
          <a:bodyPr/>
          <a:lstStyle/>
          <a:p>
            <a:r>
              <a:rPr lang="en-US" dirty="0"/>
              <a:t>UPDATE: Towards a better understanding of the ongoing </a:t>
            </a:r>
          </a:p>
          <a:p>
            <a:r>
              <a:rPr lang="en-US" dirty="0"/>
              <a:t>decline in the birth rate in Switzerland</a:t>
            </a:r>
          </a:p>
          <a:p>
            <a:pPr lvl="2"/>
            <a:r>
              <a:rPr lang="en-GB" dirty="0"/>
              <a:t>Dr. Anthony Hauser, Prof</a:t>
            </a:r>
            <a:r>
              <a:rPr lang="en-GB" noProof="0" dirty="0"/>
              <a:t>. Dr. Kaspar Staub </a:t>
            </a:r>
          </a:p>
          <a:p>
            <a:pPr lvl="2"/>
            <a:r>
              <a:rPr lang="en-GB" noProof="0" dirty="0"/>
              <a:t>(together with Prof. Dr. Katja Rost, PD Dr. Tilo Burkhard and others)</a:t>
            </a:r>
          </a:p>
          <a:p>
            <a:pPr lvl="2"/>
            <a:r>
              <a:rPr lang="en-GB" dirty="0"/>
              <a:t>15 June 2026</a:t>
            </a:r>
            <a:endParaRPr lang="en-GB" noProof="0" dirty="0"/>
          </a:p>
        </p:txBody>
      </p:sp>
      <p:pic>
        <p:nvPicPr>
          <p:cNvPr id="7" name="Picture 6" descr="A magnifying glass with several small figures&#10;&#10;AI-generated content may be incorrect.">
            <a:extLst>
              <a:ext uri="{FF2B5EF4-FFF2-40B4-BE49-F238E27FC236}">
                <a16:creationId xmlns:a16="http://schemas.microsoft.com/office/drawing/2014/main" id="{931145E0-FC6B-26C1-B80E-FA1A9FCAFA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144000"/>
            <a:ext cx="1222524" cy="73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26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900A2-9D29-DE3D-9CC8-C5D6D32F1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9EA0B-E693-62D8-0735-A016CDE8A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Source Sans Pro"/>
              </a:rPr>
              <a:t>La sous-</a:t>
            </a:r>
            <a:r>
              <a:rPr lang="en-US" dirty="0" err="1">
                <a:ea typeface="Source Sans Pro"/>
              </a:rPr>
              <a:t>natalité</a:t>
            </a:r>
            <a:r>
              <a:rPr lang="en-US" dirty="0">
                <a:ea typeface="Source Sans Pro"/>
              </a:rPr>
              <a:t>: un </a:t>
            </a:r>
            <a:r>
              <a:rPr lang="en-US" dirty="0" err="1">
                <a:ea typeface="Source Sans Pro"/>
              </a:rPr>
              <a:t>problème</a:t>
            </a:r>
            <a:r>
              <a:rPr lang="en-US" dirty="0">
                <a:ea typeface="Source Sans Pro"/>
              </a:rPr>
              <a:t> global et </a:t>
            </a:r>
            <a:r>
              <a:rPr lang="en-US" dirty="0" err="1">
                <a:ea typeface="Source Sans Pro"/>
              </a:rPr>
              <a:t>actuel</a:t>
            </a:r>
            <a:r>
              <a:rPr lang="en-US" dirty="0">
                <a:ea typeface="Source Sans Pro"/>
              </a:rPr>
              <a:t> dans les </a:t>
            </a:r>
            <a:r>
              <a:rPr lang="en-US" dirty="0" err="1">
                <a:ea typeface="Source Sans Pro"/>
              </a:rPr>
              <a:t>média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89013-2E0F-FCF2-6381-B7D20ACDE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461" y="870744"/>
            <a:ext cx="5968555" cy="5353844"/>
          </a:xfrm>
        </p:spPr>
        <p:txBody>
          <a:bodyPr/>
          <a:lstStyle/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fr-CH" dirty="0"/>
              <a:t>2023: première fois que l’indice de remplacement naturel est passé en dessous de 2.1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fr-CH" dirty="0"/>
              <a:t>Déclin observé dans tous les continents (Nature)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fr-CH" dirty="0"/>
              <a:t>Add figures </a:t>
            </a:r>
            <a:r>
              <a:rPr lang="fr-CH" dirty="0" err="1"/>
              <a:t>Switzerland</a:t>
            </a:r>
            <a:r>
              <a:rPr lang="fr-CH" dirty="0"/>
              <a:t> last 25 </a:t>
            </a:r>
            <a:r>
              <a:rPr lang="fr-CH" dirty="0" err="1"/>
              <a:t>years</a:t>
            </a:r>
            <a:endParaRPr lang="fr-CH" dirty="0"/>
          </a:p>
          <a:p>
            <a:pPr marL="285750" indent="-285750">
              <a:spcAft>
                <a:spcPts val="1200"/>
              </a:spcAft>
              <a:buFontTx/>
              <a:buChar char="-"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B8E99E-142C-CC3E-45DF-1E6D81FC3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135" y="1627926"/>
            <a:ext cx="3326494" cy="467059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87C044-45B6-0832-A548-DA5DD3F3B1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273" y="1977451"/>
            <a:ext cx="3766687" cy="453949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43217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BC938-3319-8BEF-A4A9-6C5BED50E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Rien de nouveau en Suisse</a:t>
            </a:r>
            <a:endParaRPr lang="en-C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3CD34F-C080-3A09-2007-AC173FD8B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640" y="5341870"/>
            <a:ext cx="3424485" cy="135955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3510F4-F536-540D-0B52-44A6AEA08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0478" y="1598752"/>
            <a:ext cx="6121647" cy="366049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CCF2A51C-72AA-B2CE-4CFE-DB1DF7728A6E}"/>
              </a:ext>
            </a:extLst>
          </p:cNvPr>
          <p:cNvSpPr/>
          <p:nvPr/>
        </p:nvSpPr>
        <p:spPr>
          <a:xfrm>
            <a:off x="11145194" y="3764133"/>
            <a:ext cx="692840" cy="67639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1B3E0-CF1F-F9A4-A1B8-D57B0C8F97DB}"/>
              </a:ext>
            </a:extLst>
          </p:cNvPr>
          <p:cNvSpPr txBox="1"/>
          <p:nvPr/>
        </p:nvSpPr>
        <p:spPr>
          <a:xfrm>
            <a:off x="10854113" y="3198942"/>
            <a:ext cx="1275002" cy="4825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CH">
                <a:solidFill>
                  <a:srgbClr val="FF0000"/>
                </a:solidFill>
              </a:rPr>
              <a:t>Approaching historical low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C15740-7831-6713-7977-9BE8C1CE89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36" y="1270000"/>
            <a:ext cx="4633477" cy="51220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9DFC9AF-A9F3-8D03-0212-F73C50E7F9B2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348613" y="3631406"/>
            <a:ext cx="3000257" cy="1996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F6CF888-3ED9-BD37-0A84-9E921B58E47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t="23976" r="73724" b="64799"/>
          <a:stretch>
            <a:fillRect/>
          </a:stretch>
        </p:blipFill>
        <p:spPr>
          <a:xfrm>
            <a:off x="67946" y="2976088"/>
            <a:ext cx="3702257" cy="174831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25975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Methodological</a:t>
            </a:r>
            <a:r>
              <a:rPr lang="fr-CH" dirty="0"/>
              <a:t> issue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1461" y="870744"/>
            <a:ext cx="5968555" cy="5353844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sz="1800" b="1" dirty="0"/>
              <a:t>Est-</a:t>
            </a:r>
            <a:r>
              <a:rPr lang="en-US" sz="1800" b="1" dirty="0" err="1"/>
              <a:t>ce</a:t>
            </a:r>
            <a:r>
              <a:rPr lang="en-US" sz="1800" b="1" dirty="0"/>
              <a:t> </a:t>
            </a:r>
            <a:r>
              <a:rPr lang="en-US" sz="1800" b="1" dirty="0" err="1"/>
              <a:t>que</a:t>
            </a:r>
            <a:r>
              <a:rPr lang="en-US" sz="1800" b="1" dirty="0"/>
              <a:t> </a:t>
            </a:r>
            <a:r>
              <a:rPr lang="en-US" sz="1800" b="1" dirty="0" err="1"/>
              <a:t>cette</a:t>
            </a:r>
            <a:r>
              <a:rPr lang="en-US" sz="1800" b="1" dirty="0"/>
              <a:t> diminution est </a:t>
            </a:r>
            <a:r>
              <a:rPr lang="en-US" sz="1800" b="1" dirty="0" err="1"/>
              <a:t>réelle</a:t>
            </a:r>
            <a:r>
              <a:rPr lang="en-US" sz="1800" b="1" dirty="0"/>
              <a:t>?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Due à la structure par </a:t>
            </a:r>
            <a:r>
              <a:rPr lang="en-US" sz="1800" dirty="0" err="1"/>
              <a:t>âge</a:t>
            </a:r>
            <a:r>
              <a:rPr lang="en-US" sz="1800" dirty="0"/>
              <a:t> (</a:t>
            </a:r>
            <a:r>
              <a:rPr lang="en-US" sz="1800" dirty="0" err="1"/>
              <a:t>moins</a:t>
            </a:r>
            <a:r>
              <a:rPr lang="en-US" sz="1800" dirty="0"/>
              <a:t> de </a:t>
            </a:r>
            <a:r>
              <a:rPr lang="en-US" sz="1800" dirty="0" err="1"/>
              <a:t>personnes</a:t>
            </a:r>
            <a:r>
              <a:rPr lang="en-US" sz="1800" dirty="0"/>
              <a:t> en </a:t>
            </a:r>
            <a:r>
              <a:rPr lang="en-US" sz="1800" dirty="0" err="1"/>
              <a:t>âge</a:t>
            </a:r>
            <a:r>
              <a:rPr lang="en-US" sz="1800" dirty="0"/>
              <a:t> de </a:t>
            </a:r>
            <a:r>
              <a:rPr lang="en-US" sz="1800" dirty="0" err="1"/>
              <a:t>procréer</a:t>
            </a:r>
            <a:r>
              <a:rPr lang="en-US" sz="1800" dirty="0"/>
              <a:t>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Due à </a:t>
            </a:r>
            <a:r>
              <a:rPr lang="en-US" sz="1800" dirty="0" err="1"/>
              <a:t>l’augmentation</a:t>
            </a:r>
            <a:r>
              <a:rPr lang="en-US" sz="1800" dirty="0"/>
              <a:t> de </a:t>
            </a:r>
            <a:r>
              <a:rPr lang="en-US" sz="1800" dirty="0" err="1"/>
              <a:t>l’âge</a:t>
            </a:r>
            <a:r>
              <a:rPr lang="en-US" sz="1800" dirty="0"/>
              <a:t> de </a:t>
            </a:r>
            <a:r>
              <a:rPr lang="en-US" sz="1800" dirty="0" err="1"/>
              <a:t>procréer</a:t>
            </a:r>
            <a:r>
              <a:rPr lang="en-US" sz="1800" dirty="0"/>
              <a:t> (naissances </a:t>
            </a:r>
            <a:r>
              <a:rPr lang="en-US" sz="1800" dirty="0" err="1"/>
              <a:t>décalées</a:t>
            </a:r>
            <a:r>
              <a:rPr lang="en-US" sz="1800" dirty="0"/>
              <a:t> dans le temps, </a:t>
            </a:r>
            <a:r>
              <a:rPr lang="en-US" sz="1800" dirty="0" err="1"/>
              <a:t>créant</a:t>
            </a:r>
            <a:r>
              <a:rPr lang="en-US" sz="1800" dirty="0"/>
              <a:t> </a:t>
            </a:r>
            <a:r>
              <a:rPr lang="en-US" sz="1800" dirty="0" err="1"/>
              <a:t>une</a:t>
            </a:r>
            <a:r>
              <a:rPr lang="en-US" sz="1800" dirty="0"/>
              <a:t> impression de </a:t>
            </a:r>
            <a:r>
              <a:rPr lang="en-US" sz="1800" dirty="0" err="1"/>
              <a:t>déclin</a:t>
            </a:r>
            <a:r>
              <a:rPr lang="en-US" sz="1800" dirty="0"/>
              <a:t>)</a:t>
            </a:r>
          </a:p>
          <a:p>
            <a:pPr>
              <a:spcAft>
                <a:spcPts val="1200"/>
              </a:spcAft>
            </a:pPr>
            <a:r>
              <a:rPr lang="en-US" sz="1800" dirty="0"/>
              <a:t>Il y a t-il </a:t>
            </a:r>
            <a:r>
              <a:rPr lang="en-US" sz="1800" dirty="0" err="1"/>
              <a:t>une</a:t>
            </a:r>
            <a:r>
              <a:rPr lang="en-US" sz="1800" dirty="0"/>
              <a:t> diminution en function du temps </a:t>
            </a:r>
            <a:r>
              <a:rPr lang="en-US" sz="1800" dirty="0" err="1"/>
              <a:t>ou</a:t>
            </a:r>
            <a:r>
              <a:rPr lang="en-US" sz="1800" dirty="0"/>
              <a:t> </a:t>
            </a:r>
            <a:r>
              <a:rPr lang="en-US" sz="1800" dirty="0" err="1"/>
              <a:t>géographiquement</a:t>
            </a:r>
            <a:r>
              <a:rPr lang="en-US" sz="1800" dirty="0"/>
              <a:t>?</a:t>
            </a:r>
          </a:p>
          <a:p>
            <a:pPr>
              <a:spcAft>
                <a:spcPts val="1200"/>
              </a:spcAft>
            </a:pPr>
            <a:r>
              <a:rPr lang="en-US" sz="1800" dirty="0"/>
              <a:t>-&gt; Concept de </a:t>
            </a:r>
            <a:r>
              <a:rPr lang="en-US" sz="1800" dirty="0" err="1"/>
              <a:t>natalité</a:t>
            </a:r>
            <a:r>
              <a:rPr lang="en-US" sz="1800" dirty="0"/>
              <a:t> </a:t>
            </a:r>
            <a:r>
              <a:rPr lang="en-US" sz="1800" dirty="0" err="1"/>
              <a:t>attendue</a:t>
            </a:r>
            <a:r>
              <a:rPr lang="en-US" sz="1800" dirty="0"/>
              <a:t>, </a:t>
            </a:r>
            <a:r>
              <a:rPr lang="en-US" sz="1800" dirty="0" err="1"/>
              <a:t>moyenne</a:t>
            </a:r>
            <a:endParaRPr lang="en-US" sz="1800" dirty="0"/>
          </a:p>
          <a:p>
            <a:pPr>
              <a:spcAft>
                <a:spcPts val="1200"/>
              </a:spcAft>
            </a:pPr>
            <a:endParaRPr lang="en-US" sz="1800" dirty="0"/>
          </a:p>
          <a:p>
            <a:pPr marL="285750" indent="-285750">
              <a:spcAft>
                <a:spcPts val="1200"/>
              </a:spcAft>
              <a:buFontTx/>
              <a:buChar char="-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32034-D170-FE5E-658F-426199A8D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9ED85-6A7D-9D91-B1BC-373648B9F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Research</a:t>
            </a:r>
            <a:r>
              <a:rPr lang="fr-CH" dirty="0"/>
              <a:t> question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2F6E3-5FE6-F5AF-54F5-8203397ED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461" y="870744"/>
            <a:ext cx="5968555" cy="5353844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sz="1800" dirty="0"/>
              <a:t>Est-</a:t>
            </a:r>
            <a:r>
              <a:rPr lang="en-US" sz="1800" dirty="0" err="1"/>
              <a:t>ce</a:t>
            </a:r>
            <a:r>
              <a:rPr lang="en-US" sz="1800" dirty="0"/>
              <a:t> </a:t>
            </a:r>
            <a:r>
              <a:rPr lang="en-US" sz="1800" dirty="0" err="1"/>
              <a:t>que</a:t>
            </a:r>
            <a:r>
              <a:rPr lang="en-US" sz="1800" dirty="0"/>
              <a:t> le </a:t>
            </a:r>
            <a:r>
              <a:rPr lang="en-US" sz="1800" dirty="0" err="1"/>
              <a:t>déclin</a:t>
            </a:r>
            <a:r>
              <a:rPr lang="en-US" sz="1800" dirty="0"/>
              <a:t> </a:t>
            </a:r>
            <a:r>
              <a:rPr lang="en-US" sz="1800" dirty="0" err="1"/>
              <a:t>subsiste</a:t>
            </a:r>
            <a:r>
              <a:rPr lang="en-US" sz="1800" dirty="0"/>
              <a:t> </a:t>
            </a:r>
            <a:r>
              <a:rPr lang="en-US" sz="1800" dirty="0" err="1"/>
              <a:t>lorsqu’on</a:t>
            </a:r>
            <a:r>
              <a:rPr lang="en-US" sz="1800" dirty="0"/>
              <a:t> </a:t>
            </a:r>
            <a:r>
              <a:rPr lang="en-US" sz="1800" dirty="0" err="1"/>
              <a:t>ajuste</a:t>
            </a:r>
            <a:r>
              <a:rPr lang="en-US" sz="1800" dirty="0"/>
              <a:t> sur le changement de la structure par age </a:t>
            </a:r>
            <a:r>
              <a:rPr lang="en-US" sz="1800" dirty="0" err="1"/>
              <a:t>ainsi</a:t>
            </a:r>
            <a:r>
              <a:rPr lang="en-US" sz="1800" dirty="0"/>
              <a:t> </a:t>
            </a:r>
            <a:r>
              <a:rPr lang="en-US" sz="1800" dirty="0" err="1"/>
              <a:t>que</a:t>
            </a:r>
            <a:r>
              <a:rPr lang="en-US" sz="1800" dirty="0"/>
              <a:t> sur </a:t>
            </a:r>
            <a:r>
              <a:rPr lang="en-US" sz="1800" dirty="0" err="1"/>
              <a:t>l’augmentation</a:t>
            </a:r>
            <a:r>
              <a:rPr lang="en-US" sz="1800" dirty="0"/>
              <a:t> de </a:t>
            </a:r>
            <a:r>
              <a:rPr lang="en-US" sz="1800" dirty="0" err="1"/>
              <a:t>l’âge</a:t>
            </a:r>
            <a:r>
              <a:rPr lang="en-US" sz="1800" dirty="0"/>
              <a:t> de la </a:t>
            </a:r>
            <a:r>
              <a:rPr lang="en-US" sz="1800" dirty="0" err="1"/>
              <a:t>maternalité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/>
              <a:t>Can we gain a better understanding of who is particularly affected by the declining birth rate in Switzerland?</a:t>
            </a:r>
            <a:endParaRPr lang="en-CH" sz="1800" dirty="0"/>
          </a:p>
          <a:p>
            <a:pPr marL="285750" indent="-285750">
              <a:spcAft>
                <a:spcPts val="1200"/>
              </a:spcAft>
              <a:buFontTx/>
              <a:buChar char="-"/>
            </a:pPr>
            <a:endParaRPr dirty="0"/>
          </a:p>
        </p:txBody>
      </p:sp>
      <p:pic>
        <p:nvPicPr>
          <p:cNvPr id="4" name="Picture 3" descr="A magnifying glass with several small figures&#10;&#10;AI-generated content may be incorrect.">
            <a:extLst>
              <a:ext uri="{FF2B5EF4-FFF2-40B4-BE49-F238E27FC236}">
                <a16:creationId xmlns:a16="http://schemas.microsoft.com/office/drawing/2014/main" id="{F9121457-4059-1E57-7A97-737E7F677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858" y="1858508"/>
            <a:ext cx="5199681" cy="31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417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4E4CB-FBED-2B06-94A4-EB73A07B0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Source Sans Pro"/>
              </a:rPr>
              <a:t>Fit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5BA84-A731-F0D4-2740-1FB17A3A4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461" y="880035"/>
            <a:ext cx="3717518" cy="5672251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1400" b="1">
                <a:ea typeface="Source Sans Pro"/>
              </a:rPr>
              <a:t>Goal: </a:t>
            </a:r>
            <a:r>
              <a:rPr lang="en-US" sz="1400">
                <a:ea typeface="Source Sans Pro"/>
              </a:rPr>
              <a:t>Assess the temporal and geographical variations in birth rate in Switzerland in 2000-2024 after accounting for</a:t>
            </a:r>
          </a:p>
          <a:p>
            <a:pPr marL="285750" indent="-285750">
              <a:buFont typeface="Arial,Sans-Serif"/>
              <a:buChar char="•"/>
            </a:pPr>
            <a:r>
              <a:rPr lang="en-US" sz="1400">
                <a:ea typeface="Source Sans Pro"/>
              </a:rPr>
              <a:t>Change in population size and distribution</a:t>
            </a:r>
          </a:p>
          <a:p>
            <a:pPr marL="285750" indent="-285750">
              <a:buFont typeface="Arial,Sans-Serif"/>
              <a:buChar char="•"/>
            </a:pPr>
            <a:r>
              <a:rPr lang="en-US" sz="1400">
                <a:ea typeface="Source Sans Pro"/>
              </a:rPr>
              <a:t>Delayed childbearing</a:t>
            </a:r>
          </a:p>
          <a:p>
            <a:endParaRPr lang="en-US" sz="800">
              <a:ea typeface="Source Sans Pro"/>
            </a:endParaRPr>
          </a:p>
          <a:p>
            <a:r>
              <a:rPr lang="en-US" sz="1400" b="1">
                <a:ea typeface="Source Sans Pro"/>
              </a:rPr>
              <a:t>Data</a:t>
            </a:r>
            <a:r>
              <a:rPr lang="en-US" sz="1400">
                <a:ea typeface="Source Sans Pro"/>
              </a:rPr>
              <a:t>:</a:t>
            </a:r>
          </a:p>
          <a:p>
            <a:pPr marL="285750" indent="-285750">
              <a:lnSpc>
                <a:spcPct val="100000"/>
              </a:lnSpc>
              <a:buFont typeface="Arial,Sans-Serif"/>
              <a:buChar char="•"/>
            </a:pPr>
            <a:r>
              <a:rPr lang="en-US" sz="1400" b="1">
                <a:ea typeface="Source Sans Pro"/>
              </a:rPr>
              <a:t>Birth</a:t>
            </a:r>
            <a:r>
              <a:rPr lang="en-US" sz="1400">
                <a:ea typeface="Source Sans Pro"/>
              </a:rPr>
              <a:t>: individual-level with information about mother (age, municipality, citizenship, etc.)</a:t>
            </a:r>
          </a:p>
          <a:p>
            <a:pPr marL="285750" indent="-285750">
              <a:lnSpc>
                <a:spcPct val="100000"/>
              </a:lnSpc>
              <a:buFont typeface="Arial,Sans-Serif"/>
              <a:buChar char="•"/>
            </a:pPr>
            <a:r>
              <a:rPr lang="en-US" sz="1400" b="1">
                <a:ea typeface="Source Sans Pro"/>
              </a:rPr>
              <a:t>Population </a:t>
            </a:r>
            <a:r>
              <a:rPr lang="en-US" sz="1400">
                <a:ea typeface="Source Sans Pro"/>
              </a:rPr>
              <a:t>of women by age and municipality over time</a:t>
            </a:r>
          </a:p>
          <a:p>
            <a:pPr>
              <a:lnSpc>
                <a:spcPct val="100000"/>
              </a:lnSpc>
            </a:pPr>
            <a:endParaRPr lang="en-US" sz="800">
              <a:ea typeface="Source Sans Pro"/>
            </a:endParaRPr>
          </a:p>
          <a:p>
            <a:r>
              <a:rPr lang="en-US" sz="1400" b="1">
                <a:ea typeface="Source Sans Pro"/>
              </a:rPr>
              <a:t>Model: </a:t>
            </a:r>
            <a:r>
              <a:rPr lang="en-US" sz="1400">
                <a:ea typeface="Source Sans Pro"/>
              </a:rPr>
              <a:t>Negative-Binomial distribution fitting the number of births by month and maternal age</a:t>
            </a:r>
          </a:p>
          <a:p>
            <a:endParaRPr lang="en-US" sz="800">
              <a:ea typeface="Source Sans Pro"/>
            </a:endParaRPr>
          </a:p>
          <a:p>
            <a:r>
              <a:rPr lang="en-US" sz="1400" b="1">
                <a:ea typeface="Source Sans Pro"/>
              </a:rPr>
              <a:t>Outcomes</a:t>
            </a:r>
            <a:endParaRPr lang="en-US" sz="1400">
              <a:ea typeface="Source Sans Pro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400" b="1">
                <a:ea typeface="Source Sans Pro"/>
              </a:rPr>
              <a:t>Expected births</a:t>
            </a:r>
            <a:r>
              <a:rPr lang="en-US" sz="1400" i="1">
                <a:ea typeface="Source Sans Pro"/>
              </a:rPr>
              <a:t>: Number of births expected if fertility levels had remained constant over time.</a:t>
            </a:r>
            <a:endParaRPr lang="en-US" sz="1400">
              <a:ea typeface="Source Sans Pro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400" b="1">
                <a:ea typeface="Source Sans Pro"/>
              </a:rPr>
              <a:t>Excess births</a:t>
            </a:r>
            <a:r>
              <a:rPr lang="en-US" sz="1400">
                <a:ea typeface="Source Sans Pro"/>
              </a:rPr>
              <a:t>: Observed births – Expected births</a:t>
            </a:r>
          </a:p>
          <a:p>
            <a:endParaRPr lang="en-US" sz="800">
              <a:ea typeface="Source Sans Pro"/>
            </a:endParaRPr>
          </a:p>
          <a:p>
            <a:r>
              <a:rPr lang="en-US" sz="1400" b="1">
                <a:ea typeface="Source Sans Pro"/>
              </a:rPr>
              <a:t>Extrapolated </a:t>
            </a:r>
            <a:r>
              <a:rPr lang="en-US" sz="1400">
                <a:ea typeface="Source Sans Pro"/>
              </a:rPr>
              <a:t>at different levels :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1400">
                <a:ea typeface="Source Sans Pro"/>
              </a:rPr>
              <a:t>Nationally</a:t>
            </a:r>
          </a:p>
          <a:p>
            <a:pPr marL="285750" indent="-285750">
              <a:buFont typeface="Arial,Sans-Serif"/>
              <a:buChar char="•"/>
            </a:pPr>
            <a:r>
              <a:rPr lang="en-US" sz="1400">
                <a:ea typeface="Source Sans Pro"/>
              </a:rPr>
              <a:t>Municipality-level</a:t>
            </a:r>
          </a:p>
          <a:p>
            <a:pPr marL="285750" indent="-285750">
              <a:buFont typeface="Arial,Sans-Serif"/>
              <a:buChar char="•"/>
            </a:pPr>
            <a:r>
              <a:rPr lang="en-US" sz="1400">
                <a:ea typeface="Source Sans Pro"/>
              </a:rPr>
              <a:t>By subgroup (citizenship, parity) </a:t>
            </a:r>
          </a:p>
          <a:p>
            <a:endParaRPr lang="en-US" sz="1400">
              <a:ea typeface="Source Sans Pro"/>
            </a:endParaRPr>
          </a:p>
          <a:p>
            <a:endParaRPr lang="en-US" sz="1400">
              <a:ea typeface="Source Sans Pro"/>
            </a:endParaRPr>
          </a:p>
          <a:p>
            <a:endParaRPr lang="en-US" sz="1400" i="1">
              <a:ea typeface="Source Sans Pro"/>
            </a:endParaRPr>
          </a:p>
          <a:p>
            <a:endParaRPr lang="en-US" sz="1400">
              <a:ea typeface="Source Sans Pro"/>
            </a:endParaRPr>
          </a:p>
          <a:p>
            <a:endParaRPr lang="en-US" sz="1400">
              <a:ea typeface="Source Sans Pr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9E98E8-BE8D-E7C1-0686-BC6804CD13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82" t="-303" r="182" b="606"/>
          <a:stretch>
            <a:fillRect/>
          </a:stretch>
        </p:blipFill>
        <p:spPr>
          <a:xfrm>
            <a:off x="4186090" y="1361113"/>
            <a:ext cx="7909659" cy="472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156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308E8-BD59-48B2-2A26-F4EBA897B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02100-6971-1F9D-8551-545A5938C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Source Sans Pro"/>
              </a:rPr>
              <a:t>Deficit in birth at the national level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7DA86720-52A5-4CE5-4536-DAD0A578F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95781" y="957397"/>
            <a:ext cx="8029575" cy="5353050"/>
          </a:xfrm>
          <a:prstGeom prst="rect">
            <a:avLst/>
          </a:prstGeom>
        </p:spPr>
      </p:pic>
      <p:sp>
        <p:nvSpPr>
          <p:cNvPr id="23" name="Content Placeholder 6">
            <a:extLst>
              <a:ext uri="{FF2B5EF4-FFF2-40B4-BE49-F238E27FC236}">
                <a16:creationId xmlns:a16="http://schemas.microsoft.com/office/drawing/2014/main" id="{570D4DD8-5F77-10B8-F8B8-891DC4BEEE86}"/>
              </a:ext>
            </a:extLst>
          </p:cNvPr>
          <p:cNvSpPr txBox="1">
            <a:spLocks/>
          </p:cNvSpPr>
          <p:nvPr/>
        </p:nvSpPr>
        <p:spPr>
          <a:xfrm>
            <a:off x="271461" y="880036"/>
            <a:ext cx="3408054" cy="509365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3000"/>
              </a:lnSpc>
              <a:spcBef>
                <a:spcPts val="0"/>
              </a:spcBef>
              <a:buFont typeface="+mj-lt"/>
              <a:buNone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6800" indent="-226800" algn="l" defTabSz="914400" rtl="0" eaLnBrk="1" latinLnBrk="0" hangingPunct="1">
              <a:lnSpc>
                <a:spcPct val="103000"/>
              </a:lnSpc>
              <a:spcBef>
                <a:spcPts val="1000"/>
              </a:spcBef>
              <a:buFont typeface="Source Sans Pro" panose="020B0503030403020204" pitchFamily="34" charset="0"/>
              <a:buChar char="―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8800" indent="-226800" algn="l" defTabSz="914400" rtl="0" eaLnBrk="1" latinLnBrk="0" hangingPunct="1">
              <a:lnSpc>
                <a:spcPct val="103000"/>
              </a:lnSpc>
              <a:spcBef>
                <a:spcPts val="1000"/>
              </a:spcBef>
              <a:buFont typeface="Source Sans Pro" panose="020B0503030403020204" pitchFamily="34" charset="0"/>
              <a:buChar char="―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800" indent="-226800" algn="l" defTabSz="914400" rtl="0" eaLnBrk="1" latinLnBrk="0" hangingPunct="1">
              <a:lnSpc>
                <a:spcPct val="103000"/>
              </a:lnSpc>
              <a:spcBef>
                <a:spcPts val="1000"/>
              </a:spcBef>
              <a:buFont typeface="Source Sans Pro" panose="020B0503030403020204" pitchFamily="34" charset="0"/>
              <a:buChar char="―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2800" indent="-226800" algn="l" defTabSz="914400" rtl="0" eaLnBrk="1" latinLnBrk="0" hangingPunct="1">
              <a:lnSpc>
                <a:spcPct val="103000"/>
              </a:lnSpc>
              <a:spcBef>
                <a:spcPts val="1000"/>
              </a:spcBef>
              <a:buFont typeface="Source Sans Pro" panose="020B0503030403020204" pitchFamily="34" charset="0"/>
              <a:buChar char="―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ea typeface="Source Sans Pro"/>
              </a:rPr>
              <a:t>National excess birth</a:t>
            </a:r>
            <a:r>
              <a:rPr lang="en-US">
                <a:ea typeface="Source Sans Pro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Source Sans Pro"/>
              </a:rPr>
              <a:t>Steep decrease in the last years (except for 2021)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Source Sans Pro"/>
              </a:rPr>
              <a:t>Excess births in 2021: effect of COVID-19 wave?</a:t>
            </a:r>
            <a:endParaRPr lang="en-US"/>
          </a:p>
          <a:p>
            <a:endParaRPr lang="en-US" sz="800">
              <a:ea typeface="Source Sans Pro"/>
            </a:endParaRPr>
          </a:p>
          <a:p>
            <a:r>
              <a:rPr lang="en-US" b="1">
                <a:ea typeface="Source Sans Pro"/>
              </a:rPr>
              <a:t>Excess birth by citizenship</a:t>
            </a:r>
            <a:r>
              <a:rPr lang="en-US">
                <a:ea typeface="Source Sans Pro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Source Sans Pro"/>
              </a:rPr>
              <a:t>Marked differences over regions of the world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Source Sans Pro"/>
              </a:rPr>
              <a:t>Swiss residents with lowest birth rate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Source Sans Pro"/>
              </a:rPr>
              <a:t>Decreases in all regions</a:t>
            </a:r>
          </a:p>
        </p:txBody>
      </p:sp>
    </p:spTree>
    <p:extLst>
      <p:ext uri="{BB962C8B-B14F-4D97-AF65-F5344CB8AC3E}">
        <p14:creationId xmlns:p14="http://schemas.microsoft.com/office/powerpoint/2010/main" val="3224606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1EA1F-2731-0A15-B754-F94448A2C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7B4AB-0FED-D805-9A4A-9940B1A1D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Deficit in birth by municipality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9797DA-42F4-F860-3773-17ED34A9A0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13374" y="727662"/>
            <a:ext cx="10037115" cy="6121887"/>
          </a:xfrm>
          <a:prstGeom prst="rect">
            <a:avLst/>
          </a:prstGeom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0D85A8A6-7D0E-3C67-99F5-E78250F55544}"/>
              </a:ext>
            </a:extLst>
          </p:cNvPr>
          <p:cNvSpPr txBox="1">
            <a:spLocks/>
          </p:cNvSpPr>
          <p:nvPr/>
        </p:nvSpPr>
        <p:spPr>
          <a:xfrm>
            <a:off x="271461" y="880036"/>
            <a:ext cx="3408054" cy="509365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3000"/>
              </a:lnSpc>
              <a:spcBef>
                <a:spcPts val="0"/>
              </a:spcBef>
              <a:buFont typeface="+mj-lt"/>
              <a:buNone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6800" indent="-226800" algn="l" defTabSz="914400" rtl="0" eaLnBrk="1" latinLnBrk="0" hangingPunct="1">
              <a:lnSpc>
                <a:spcPct val="103000"/>
              </a:lnSpc>
              <a:spcBef>
                <a:spcPts val="1000"/>
              </a:spcBef>
              <a:buFont typeface="Source Sans Pro" panose="020B0503030403020204" pitchFamily="34" charset="0"/>
              <a:buChar char="―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8800" indent="-226800" algn="l" defTabSz="914400" rtl="0" eaLnBrk="1" latinLnBrk="0" hangingPunct="1">
              <a:lnSpc>
                <a:spcPct val="103000"/>
              </a:lnSpc>
              <a:spcBef>
                <a:spcPts val="1000"/>
              </a:spcBef>
              <a:buFont typeface="Source Sans Pro" panose="020B0503030403020204" pitchFamily="34" charset="0"/>
              <a:buChar char="―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800" indent="-226800" algn="l" defTabSz="914400" rtl="0" eaLnBrk="1" latinLnBrk="0" hangingPunct="1">
              <a:lnSpc>
                <a:spcPct val="103000"/>
              </a:lnSpc>
              <a:spcBef>
                <a:spcPts val="1000"/>
              </a:spcBef>
              <a:buFont typeface="Source Sans Pro" panose="020B0503030403020204" pitchFamily="34" charset="0"/>
              <a:buChar char="―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2800" indent="-226800" algn="l" defTabSz="914400" rtl="0" eaLnBrk="1" latinLnBrk="0" hangingPunct="1">
              <a:lnSpc>
                <a:spcPct val="103000"/>
              </a:lnSpc>
              <a:spcBef>
                <a:spcPts val="1000"/>
              </a:spcBef>
              <a:buFont typeface="Source Sans Pro" panose="020B0503030403020204" pitchFamily="34" charset="0"/>
              <a:buChar char="―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ea typeface="Source Sans Pro"/>
              </a:rPr>
              <a:t>Relative excess birth in 2017-2024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Source Sans Pro"/>
              </a:rPr>
              <a:t>Smoothed over neighboring municipalities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Source Sans Pro"/>
              </a:rPr>
              <a:t>Deficit  concentrated in cities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Source Sans Pro"/>
              </a:rPr>
              <a:t>South regions (VS, TI, GR) also more affected</a:t>
            </a:r>
          </a:p>
          <a:p>
            <a:endParaRPr lang="en-US" sz="800">
              <a:ea typeface="Source Sans Pro"/>
            </a:endParaRPr>
          </a:p>
          <a:p>
            <a:endParaRPr lang="en-US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936024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AD097-E081-3C8D-F615-7B1B03736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3F75-BBCA-82CF-448E-605091228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Results by explanatory variables (ecological level)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FA594B0-AB20-51AD-7C43-D75E648736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26453" y="1547148"/>
            <a:ext cx="7298029" cy="4430332"/>
          </a:xfrm>
          <a:prstGeom prst="rect">
            <a:avLst/>
          </a:prstGeom>
        </p:spPr>
      </p:pic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8989378-62D9-7B59-CA0E-C7AFD8A859AB}"/>
              </a:ext>
            </a:extLst>
          </p:cNvPr>
          <p:cNvSpPr txBox="1">
            <a:spLocks/>
          </p:cNvSpPr>
          <p:nvPr/>
        </p:nvSpPr>
        <p:spPr>
          <a:xfrm>
            <a:off x="271461" y="869453"/>
            <a:ext cx="4032470" cy="511481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3000"/>
              </a:lnSpc>
              <a:spcBef>
                <a:spcPts val="0"/>
              </a:spcBef>
              <a:buFont typeface="+mj-lt"/>
              <a:buNone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6800" indent="-226800" algn="l" defTabSz="914400" rtl="0" eaLnBrk="1" latinLnBrk="0" hangingPunct="1">
              <a:lnSpc>
                <a:spcPct val="103000"/>
              </a:lnSpc>
              <a:spcBef>
                <a:spcPts val="1000"/>
              </a:spcBef>
              <a:buFont typeface="Source Sans Pro" panose="020B0503030403020204" pitchFamily="34" charset="0"/>
              <a:buChar char="―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8800" indent="-226800" algn="l" defTabSz="914400" rtl="0" eaLnBrk="1" latinLnBrk="0" hangingPunct="1">
              <a:lnSpc>
                <a:spcPct val="103000"/>
              </a:lnSpc>
              <a:spcBef>
                <a:spcPts val="1000"/>
              </a:spcBef>
              <a:buFont typeface="Source Sans Pro" panose="020B0503030403020204" pitchFamily="34" charset="0"/>
              <a:buChar char="―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800" indent="-226800" algn="l" defTabSz="914400" rtl="0" eaLnBrk="1" latinLnBrk="0" hangingPunct="1">
              <a:lnSpc>
                <a:spcPct val="103000"/>
              </a:lnSpc>
              <a:spcBef>
                <a:spcPts val="1000"/>
              </a:spcBef>
              <a:buFont typeface="Source Sans Pro" panose="020B0503030403020204" pitchFamily="34" charset="0"/>
              <a:buChar char="―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2800" indent="-226800" algn="l" defTabSz="914400" rtl="0" eaLnBrk="1" latinLnBrk="0" hangingPunct="1">
              <a:lnSpc>
                <a:spcPct val="103000"/>
              </a:lnSpc>
              <a:spcBef>
                <a:spcPts val="1000"/>
              </a:spcBef>
              <a:buFont typeface="Source Sans Pro" panose="020B0503030403020204" pitchFamily="34" charset="0"/>
              <a:buChar char="―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Explain this heterogeneity using municipality characteristics </a:t>
            </a:r>
            <a:endParaRPr lang="en-US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Municipalities grouped into covariate deciles </a:t>
            </a:r>
            <a:endParaRPr lang="en-US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Lower birth rates in more densely populated municipalities </a:t>
            </a:r>
            <a:endParaRPr lang="en-US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Mixed results for other variables: no positive association with childcare services or support for parental aid policies</a:t>
            </a:r>
            <a:endParaRPr lang="en-US">
              <a:ea typeface="Source Sans Pro"/>
            </a:endParaRPr>
          </a:p>
          <a:p>
            <a:endParaRPr lang="en-US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0090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F5093-6781-33C6-F3C0-934D0855B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C7E25-1FF7-3DA8-4439-4EC9949C2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Results: subgroup analyses</a:t>
            </a:r>
            <a:endParaRPr lang="en-US">
              <a:ea typeface="Source Sans Pro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2E659B9-B5BB-8856-4381-0D34C1155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93380" y="712974"/>
            <a:ext cx="7527602" cy="6021800"/>
          </a:xfrm>
          <a:prstGeom prst="rect">
            <a:avLst/>
          </a:prstGeom>
        </p:spPr>
      </p:pic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4AD6C311-6B52-B68F-7F16-E22B3FAA13C6}"/>
              </a:ext>
            </a:extLst>
          </p:cNvPr>
          <p:cNvSpPr txBox="1">
            <a:spLocks/>
          </p:cNvSpPr>
          <p:nvPr/>
        </p:nvSpPr>
        <p:spPr>
          <a:xfrm>
            <a:off x="271461" y="870391"/>
            <a:ext cx="3871041" cy="51032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3000"/>
              </a:lnSpc>
              <a:spcBef>
                <a:spcPts val="0"/>
              </a:spcBef>
              <a:buFont typeface="+mj-lt"/>
              <a:buNone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6800" indent="-226800" algn="l" defTabSz="914400" rtl="0" eaLnBrk="1" latinLnBrk="0" hangingPunct="1">
              <a:lnSpc>
                <a:spcPct val="103000"/>
              </a:lnSpc>
              <a:spcBef>
                <a:spcPts val="1000"/>
              </a:spcBef>
              <a:buFont typeface="Source Sans Pro" panose="020B0503030403020204" pitchFamily="34" charset="0"/>
              <a:buChar char="―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8800" indent="-226800" algn="l" defTabSz="914400" rtl="0" eaLnBrk="1" latinLnBrk="0" hangingPunct="1">
              <a:lnSpc>
                <a:spcPct val="103000"/>
              </a:lnSpc>
              <a:spcBef>
                <a:spcPts val="1000"/>
              </a:spcBef>
              <a:buFont typeface="Source Sans Pro" panose="020B0503030403020204" pitchFamily="34" charset="0"/>
              <a:buChar char="―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800" indent="-226800" algn="l" defTabSz="914400" rtl="0" eaLnBrk="1" latinLnBrk="0" hangingPunct="1">
              <a:lnSpc>
                <a:spcPct val="103000"/>
              </a:lnSpc>
              <a:spcBef>
                <a:spcPts val="1000"/>
              </a:spcBef>
              <a:buFont typeface="Source Sans Pro" panose="020B0503030403020204" pitchFamily="34" charset="0"/>
              <a:buChar char="―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2800" indent="-226800" algn="l" defTabSz="914400" rtl="0" eaLnBrk="1" latinLnBrk="0" hangingPunct="1">
              <a:lnSpc>
                <a:spcPct val="103000"/>
              </a:lnSpc>
              <a:spcBef>
                <a:spcPts val="1000"/>
              </a:spcBef>
              <a:buFont typeface="Source Sans Pro" panose="020B0503030403020204" pitchFamily="34" charset="0"/>
              <a:buChar char="―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>
                <a:ea typeface="Source Sans Pro"/>
              </a:rPr>
              <a:t>Subgroups:</a:t>
            </a:r>
          </a:p>
          <a:p>
            <a:pPr marL="798195" lvl="1" indent="-285750">
              <a:spcBef>
                <a:spcPts val="0"/>
              </a:spcBef>
              <a:buFont typeface="Wingdings"/>
              <a:buChar char="§"/>
            </a:pPr>
            <a:r>
              <a:rPr lang="en-US">
                <a:ea typeface="Source Sans Pro"/>
              </a:rPr>
              <a:t>Citizenship: Swiss vs non-Swiss residents</a:t>
            </a:r>
          </a:p>
          <a:p>
            <a:pPr marL="798195" lvl="1" indent="-285750">
              <a:spcBef>
                <a:spcPts val="0"/>
              </a:spcBef>
              <a:buFont typeface="Wingdings"/>
              <a:buChar char="§"/>
            </a:pPr>
            <a:r>
              <a:rPr lang="en-US">
                <a:ea typeface="Source Sans Pro"/>
              </a:rPr>
              <a:t>Parity: first child vs 2nd+ children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Source Sans Pro"/>
              </a:rPr>
              <a:t>Different fertility curves between citizenships (Panel A)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Source Sans Pro"/>
              </a:rPr>
              <a:t>Decrease in all subgroups (Panels B and D)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Source Sans Pro"/>
              </a:rPr>
              <a:t>Effect of population density more marked among Swiss residents and for 2nd+ births</a:t>
            </a:r>
          </a:p>
          <a:p>
            <a:pPr marL="285750" indent="-285750">
              <a:buFont typeface="Arial"/>
              <a:buChar char="•"/>
            </a:pPr>
            <a:endParaRPr lang="en-US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endParaRPr lang="en-US" b="1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568459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4AC7E-BDD1-EA29-373C-F2EDF272F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7E84-739B-4D0C-01F7-FFF338E70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Comparison</a:t>
            </a:r>
            <a:r>
              <a:rPr lang="de-CH" dirty="0"/>
              <a:t> and </a:t>
            </a:r>
            <a:r>
              <a:rPr lang="de-CH" dirty="0" err="1"/>
              <a:t>explanations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7EC53-A583-A602-6F28-790640736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461" y="870744"/>
            <a:ext cx="6112571" cy="5353844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b="1" dirty="0"/>
              <a:t>Step 1: Update and expand </a:t>
            </a:r>
            <a:r>
              <a:rPr lang="en-GB" b="1" dirty="0" err="1"/>
              <a:t>BevNat</a:t>
            </a:r>
            <a:r>
              <a:rPr lang="en-GB" b="1" dirty="0"/>
              <a:t> analysis</a:t>
            </a:r>
            <a:endParaRPr lang="en-GB" dirty="0"/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GB" dirty="0"/>
              <a:t>Add 2023–24 </a:t>
            </a:r>
            <a:r>
              <a:rPr lang="en-GB" dirty="0" err="1"/>
              <a:t>BevNat</a:t>
            </a:r>
            <a:r>
              <a:rPr lang="en-GB" dirty="0"/>
              <a:t> data 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GB" dirty="0"/>
              <a:t>Include ecological indicators (Swiss SEP, municipality typology)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GB" dirty="0"/>
              <a:t>Deepen subgroup analyses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endParaRPr lang="en-GB" dirty="0"/>
          </a:p>
          <a:p>
            <a:pPr>
              <a:spcAft>
                <a:spcPts val="600"/>
              </a:spcAft>
            </a:pPr>
            <a:r>
              <a:rPr lang="en-GB" b="1" dirty="0"/>
              <a:t>Step 2: Explore triangulation with other data</a:t>
            </a:r>
            <a:endParaRPr lang="en-GB" dirty="0"/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GB" dirty="0"/>
              <a:t>Compare </a:t>
            </a:r>
            <a:r>
              <a:rPr lang="en-GB" dirty="0" err="1"/>
              <a:t>BevNat</a:t>
            </a:r>
            <a:r>
              <a:rPr lang="en-GB" dirty="0"/>
              <a:t> with other Swiss datasets to deepen and strengthen findings: </a:t>
            </a:r>
            <a:r>
              <a:rPr lang="en-GB" b="1" dirty="0"/>
              <a:t>USZ clinic data, CH hospital statistics, SHP, economic/voting data, </a:t>
            </a:r>
            <a:r>
              <a:rPr lang="en-GB" b="1" dirty="0" err="1"/>
              <a:t>FiVNat</a:t>
            </a:r>
            <a:endParaRPr lang="en-GB" b="1" dirty="0"/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GB" dirty="0"/>
              <a:t>Link data at municipal/district/MS region levels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GB" dirty="0"/>
              <a:t>Map available birth datasets and identify gaps/challenges</a:t>
            </a:r>
          </a:p>
          <a:p>
            <a:pPr>
              <a:spcAft>
                <a:spcPts val="600"/>
              </a:spcAft>
            </a:pPr>
            <a:endParaRPr lang="en-GB" dirty="0"/>
          </a:p>
          <a:p>
            <a:pPr>
              <a:spcAft>
                <a:spcPts val="600"/>
              </a:spcAft>
            </a:pPr>
            <a:r>
              <a:rPr lang="en-GB" b="1" dirty="0"/>
              <a:t>Step 3: Publication and funding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GB" dirty="0"/>
              <a:t>Co-author paper on trends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GB" dirty="0"/>
              <a:t>Develop framework for SNSF or similar funding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3211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54F47-1C29-3A16-7774-3AD09EE20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A73D8-7C4E-C3D6-052E-66A815396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Background &amp; </a:t>
            </a:r>
            <a:r>
              <a:rPr lang="de-CH" dirty="0"/>
              <a:t>m</a:t>
            </a:r>
            <a:r>
              <a:rPr dirty="0" err="1"/>
              <a:t>otivation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E132D-0E9B-F34C-C034-466F4B2CB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462" y="870744"/>
            <a:ext cx="5406876" cy="598725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CH" sz="1800" b="1" dirty="0"/>
              <a:t>Big </a:t>
            </a:r>
            <a:r>
              <a:rPr lang="de-CH" sz="1800" b="1" dirty="0" err="1"/>
              <a:t>picture</a:t>
            </a:r>
            <a:endParaRPr lang="de-CH" sz="1800" b="1" dirty="0"/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GB" sz="1800" dirty="0"/>
              <a:t>Declining birth rates have become a major focus in many regions worldwide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GB" sz="1800" dirty="0"/>
              <a:t>Some countries saw a temporary rise in births during the Covid-19 pandemic in 2021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GB" sz="1800" dirty="0"/>
              <a:t>However, many European countries continue to face a decline in birth rates (started before pandemic)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GB" sz="1800" dirty="0"/>
              <a:t>Contributing factors (still under discussion):</a:t>
            </a:r>
          </a:p>
          <a:p>
            <a:pPr marL="512550" lvl="1" indent="-285750">
              <a:spcBef>
                <a:spcPts val="0"/>
              </a:spcBef>
              <a:buFontTx/>
              <a:buChar char="-"/>
            </a:pPr>
            <a:r>
              <a:rPr lang="en-GB" sz="1400" dirty="0"/>
              <a:t>Changing attitudes toward life and family</a:t>
            </a:r>
          </a:p>
          <a:p>
            <a:pPr marL="512550" lvl="1" indent="-285750">
              <a:spcBef>
                <a:spcPts val="0"/>
              </a:spcBef>
              <a:buFontTx/>
              <a:buChar char="-"/>
            </a:pPr>
            <a:r>
              <a:rPr lang="en-GB" sz="1400" dirty="0"/>
              <a:t>Shifts in life planning decisions</a:t>
            </a:r>
          </a:p>
          <a:p>
            <a:pPr marL="512550" lvl="1" indent="-285750">
              <a:spcBef>
                <a:spcPts val="0"/>
              </a:spcBef>
              <a:buFontTx/>
              <a:buChar char="-"/>
            </a:pPr>
            <a:r>
              <a:rPr lang="en-GB" sz="1400" dirty="0"/>
              <a:t>Uncertainty and perceptions among young people</a:t>
            </a:r>
          </a:p>
          <a:p>
            <a:pPr marL="512550" lvl="1" indent="-285750">
              <a:spcBef>
                <a:spcPts val="0"/>
              </a:spcBef>
              <a:buFontTx/>
              <a:buChar char="-"/>
            </a:pPr>
            <a:r>
              <a:rPr lang="en-GB" sz="1400" dirty="0"/>
              <a:t>Distribution of contraceptives</a:t>
            </a:r>
          </a:p>
          <a:p>
            <a:pPr marL="512550" lvl="1" indent="-285750">
              <a:spcBef>
                <a:spcPts val="0"/>
              </a:spcBef>
              <a:buFontTx/>
              <a:buChar char="-"/>
            </a:pPr>
            <a:r>
              <a:rPr lang="en-GB" sz="1400" dirty="0"/>
              <a:t>State pension provision (decoupling of children)</a:t>
            </a:r>
          </a:p>
          <a:p>
            <a:pPr marL="512550" lvl="1" indent="-285750">
              <a:spcBef>
                <a:spcPts val="0"/>
              </a:spcBef>
              <a:buFontTx/>
              <a:buChar char="-"/>
            </a:pPr>
            <a:r>
              <a:rPr lang="en-GB" sz="1400" dirty="0"/>
              <a:t>Decline in biological fertility</a:t>
            </a:r>
          </a:p>
          <a:p>
            <a:pPr marL="512550" lvl="1" indent="-285750">
              <a:spcBef>
                <a:spcPts val="0"/>
              </a:spcBef>
              <a:buFontTx/>
              <a:buChar char="-"/>
            </a:pPr>
            <a:r>
              <a:rPr lang="en-GB" sz="1400" dirty="0"/>
              <a:t>Birth strike: insufficient participation of men in housework</a:t>
            </a:r>
          </a:p>
          <a:p>
            <a:pPr marL="512550" lvl="1" indent="-285750">
              <a:spcBef>
                <a:spcPts val="0"/>
              </a:spcBef>
              <a:buFontTx/>
              <a:buChar char="-"/>
            </a:pPr>
            <a:endParaRPr lang="en-GB" sz="1800" dirty="0"/>
          </a:p>
          <a:p>
            <a:pPr>
              <a:spcAft>
                <a:spcPts val="600"/>
              </a:spcAft>
            </a:pPr>
            <a:r>
              <a:rPr lang="de-CH" sz="1800" b="1" dirty="0" err="1"/>
              <a:t>Relevance</a:t>
            </a:r>
            <a:endParaRPr lang="de-CH" sz="1800" b="1" dirty="0"/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GB" sz="1800" dirty="0"/>
              <a:t>The topic is expected to gain increasing attention (also from authorities)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GB" sz="1800" dirty="0"/>
              <a:t>Clinicians are already feeling the decline in practice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endParaRPr lang="en-GB" sz="1800" dirty="0"/>
          </a:p>
        </p:txBody>
      </p:sp>
      <p:pic>
        <p:nvPicPr>
          <p:cNvPr id="8" name="Picture 7" descr="A baby lying in a crib&#10;&#10;AI-generated content may be incorrect.">
            <a:extLst>
              <a:ext uri="{FF2B5EF4-FFF2-40B4-BE49-F238E27FC236}">
                <a16:creationId xmlns:a16="http://schemas.microsoft.com/office/drawing/2014/main" id="{6FB7DDAF-A748-1F4B-21C9-009B62B303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5"/>
          <a:stretch>
            <a:fillRect/>
          </a:stretch>
        </p:blipFill>
        <p:spPr>
          <a:xfrm>
            <a:off x="6209817" y="764704"/>
            <a:ext cx="5180828" cy="532461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29988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41FC3-D701-B9A9-9D0D-4D21BC527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9D9FACD-E663-A643-43C3-405582CC36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342" y="897687"/>
            <a:ext cx="3886002" cy="387680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496ECD-59FE-FA5D-C0CD-20FC4DCAA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Source Sans Pro"/>
              </a:rPr>
              <a:t>The topic remains relevant (media reports from the past few days)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276BD5-7BB8-1C57-B31B-8519656D8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6446" y="780903"/>
            <a:ext cx="3144756" cy="441542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2F19F1-E699-6CCA-C855-750C5C35A6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75" y="825874"/>
            <a:ext cx="3183139" cy="441532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7909E5-C143-907F-4EA0-D5D556E8D6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752" y="2865327"/>
            <a:ext cx="3621681" cy="377659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09DA88-E3A2-FD24-990C-46E4D7C7F69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001" y="4009486"/>
            <a:ext cx="2301218" cy="27733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79181158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Uni Zürich">
      <a:dk1>
        <a:sysClr val="windowText" lastClr="000000"/>
      </a:dk1>
      <a:lt1>
        <a:sysClr val="window" lastClr="FFFFFF"/>
      </a:lt1>
      <a:dk2>
        <a:srgbClr val="666666"/>
      </a:dk2>
      <a:lt2>
        <a:srgbClr val="D7D7D7"/>
      </a:lt2>
      <a:accent1>
        <a:srgbClr val="0028A5"/>
      </a:accent1>
      <a:accent2>
        <a:srgbClr val="4AC9E3"/>
      </a:accent2>
      <a:accent3>
        <a:srgbClr val="A4D233"/>
      </a:accent3>
      <a:accent4>
        <a:srgbClr val="FFC845"/>
      </a:accent4>
      <a:accent5>
        <a:srgbClr val="FC4C02"/>
      </a:accent5>
      <a:accent6>
        <a:srgbClr val="BF0D3E"/>
      </a:accent6>
      <a:hlink>
        <a:srgbClr val="000000"/>
      </a:hlink>
      <a:folHlink>
        <a:srgbClr val="000000"/>
      </a:folHlink>
    </a:clrScheme>
    <a:fontScheme name="Uni Zürich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4" id="{F692ECC7-308B-814E-BDFC-5BCA43ABCF67}" vid="{1AD6F9EA-0C08-244E-B8C5-7F0377BC93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24777f-78b6-4f3c-a73a-d5fa08e4d537" xsi:nil="true"/>
    <lcf76f155ced4ddcb4097134ff3c332f xmlns="c9077d15-72ed-4fec-bcfe-3472729e919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594130A2AF244FBF3F304D904ED593" ma:contentTypeVersion="18" ma:contentTypeDescription="Ein neues Dokument erstellen." ma:contentTypeScope="" ma:versionID="9c227ad3ab8d826471e210bb857ebfda">
  <xsd:schema xmlns:xsd="http://www.w3.org/2001/XMLSchema" xmlns:xs="http://www.w3.org/2001/XMLSchema" xmlns:p="http://schemas.microsoft.com/office/2006/metadata/properties" xmlns:ns2="c9077d15-72ed-4fec-bcfe-3472729e9195" xmlns:ns3="bc24777f-78b6-4f3c-a73a-d5fa08e4d537" targetNamespace="http://schemas.microsoft.com/office/2006/metadata/properties" ma:root="true" ma:fieldsID="2a0acd45fe6cc66a06723547185abeb0" ns2:_="" ns3:_="">
    <xsd:import namespace="c9077d15-72ed-4fec-bcfe-3472729e9195"/>
    <xsd:import namespace="bc24777f-78b6-4f3c-a73a-d5fa08e4d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77d15-72ed-4fec-bcfe-3472729e91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7fbe3b91-0d7a-4fca-85de-75d49bc052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4777f-78b6-4f3c-a73a-d5fa08e4d53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23888c3-3691-4ee2-9093-74875a1c94d8}" ma:internalName="TaxCatchAll" ma:showField="CatchAllData" ma:web="bc24777f-78b6-4f3c-a73a-d5fa08e4d5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26B806-0237-4942-A1FD-5C97285908C2}">
  <ds:schemaRefs>
    <ds:schemaRef ds:uri="c9077d15-72ed-4fec-bcfe-3472729e9195"/>
    <ds:schemaRef ds:uri="http://purl.org/dc/terms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bc24777f-78b6-4f3c-a73a-d5fa08e4d537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B8C4983-C2B9-40A5-988A-6394CBDA5596}">
  <ds:schemaRefs>
    <ds:schemaRef ds:uri="bc24777f-78b6-4f3c-a73a-d5fa08e4d537"/>
    <ds:schemaRef ds:uri="c9077d15-72ed-4fec-bcfe-3472729e919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Benutzerdefiniertes Design</Template>
  <TotalTime>3412</TotalTime>
  <Words>1369</Words>
  <Application>Microsoft Office PowerPoint</Application>
  <PresentationFormat>Widescreen</PresentationFormat>
  <Paragraphs>162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Arial,Sans-Serif</vt:lpstr>
      <vt:lpstr>Calibri</vt:lpstr>
      <vt:lpstr>Source Sans Pro</vt:lpstr>
      <vt:lpstr>Source Sans Pro SemiBold</vt:lpstr>
      <vt:lpstr>Wingdings</vt:lpstr>
      <vt:lpstr>Benutzerdefiniertes Design</vt:lpstr>
      <vt:lpstr>PowerPoint Presentation</vt:lpstr>
      <vt:lpstr>La sous-natalité: un problème global et actuel dans les média</vt:lpstr>
      <vt:lpstr>Rien de nouveau en Suisse</vt:lpstr>
      <vt:lpstr>Methodological issue</vt:lpstr>
      <vt:lpstr>Research question</vt:lpstr>
      <vt:lpstr>Fit</vt:lpstr>
      <vt:lpstr>Deficit in birth at the national level</vt:lpstr>
      <vt:lpstr>Deficit in birth by municipality</vt:lpstr>
      <vt:lpstr>Results by explanatory variables (ecological level)</vt:lpstr>
      <vt:lpstr>Results: subgroup analyses</vt:lpstr>
      <vt:lpstr>Comparison and explanations</vt:lpstr>
      <vt:lpstr>Background &amp; motivation</vt:lpstr>
      <vt:lpstr>The topic remains relevant (media reports from the past few days)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Kaspar Staub</dc:creator>
  <dc:description>erstellt durch Vorlagenbauer.ch</dc:description>
  <cp:lastModifiedBy>Hauser Anthony</cp:lastModifiedBy>
  <cp:revision>5</cp:revision>
  <dcterms:created xsi:type="dcterms:W3CDTF">2025-04-29T05:39:10Z</dcterms:created>
  <dcterms:modified xsi:type="dcterms:W3CDTF">2026-09-30T10:11:40Z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0x0101000E594130A2AF244FBF3F304D904ED593</vt:lpwstr>
  </property>
  <property fmtid="{D5CDD505-2E9C-101B-9397-08002B2CF9AE}" pid="3" name="MediaServiceImageTags">
    <vt:lpwstr/>
  </property>
</Properties>
</file>